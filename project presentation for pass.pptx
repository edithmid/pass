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8" r:id="rId3"/>
    <p:sldId id="269" r:id="rId4"/>
    <p:sldId id="270" r:id="rId5"/>
    <p:sldId id="267" r:id="rId6"/>
    <p:sldId id="268" r:id="rId7"/>
    <p:sldId id="271" r:id="rId8"/>
    <p:sldId id="266" r:id="rId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09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7" name="Shape 127"/>
          <p:cNvSpPr>
            <a:spLocks noGrp="1" noRot="1" noChangeAspect="1"/>
          </p:cNvSpPr>
          <p:nvPr>
            <p:ph type="sldImg"/>
          </p:nvPr>
        </p:nvSpPr>
        <p:spPr>
          <a:xfrm>
            <a:off x="1143000" y="685800"/>
            <a:ext cx="4572000" cy="3429000"/>
          </a:xfrm>
          <a:prstGeom prst="rect">
            <a:avLst/>
          </a:prstGeom>
        </p:spPr>
        <p:txBody>
          <a:bodyPr/>
          <a:lstStyle/>
          <a:p>
            <a:endParaRPr/>
          </a:p>
        </p:txBody>
      </p:sp>
      <p:sp>
        <p:nvSpPr>
          <p:cNvPr id="128" name="Shape 12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86497164"/>
      </p:ext>
    </p:extLst>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46595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half" idx="21"/>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2" name="Line 14"/>
          <p:cNvSpPr/>
          <p:nvPr/>
        </p:nvSpPr>
        <p:spPr>
          <a:xfrm flipH="1" flipV="1">
            <a:off x="385525" y="6386954"/>
            <a:ext cx="8434038" cy="1"/>
          </a:xfrm>
          <a:prstGeom prst="line">
            <a:avLst/>
          </a:prstGeom>
          <a:ln w="3175">
            <a:solidFill>
              <a:srgbClr val="00A2E0"/>
            </a:solidFill>
          </a:ln>
        </p:spPr>
        <p:txBody>
          <a:bodyPr lIns="40019" tIns="40019" rIns="40019" bIns="40019" anchor="ctr"/>
          <a:lstStyle/>
          <a:p>
            <a:pPr algn="ctr" defTabSz="829875">
              <a:lnSpc>
                <a:spcPct val="120000"/>
              </a:lnSpc>
              <a:defRPr sz="1400" i="1" u="sng">
                <a:latin typeface="Arial"/>
                <a:ea typeface="Arial"/>
                <a:cs typeface="Arial"/>
                <a:sym typeface="Arial"/>
              </a:defRPr>
            </a:pPr>
            <a:endParaRPr/>
          </a:p>
        </p:txBody>
      </p:sp>
      <p:sp>
        <p:nvSpPr>
          <p:cNvPr id="93" name="Line 7"/>
          <p:cNvSpPr/>
          <p:nvPr/>
        </p:nvSpPr>
        <p:spPr>
          <a:xfrm flipH="1" flipV="1">
            <a:off x="385524" y="6386954"/>
            <a:ext cx="8601008" cy="1"/>
          </a:xfrm>
          <a:prstGeom prst="line">
            <a:avLst/>
          </a:prstGeom>
          <a:ln w="3175">
            <a:solidFill>
              <a:srgbClr val="595959"/>
            </a:solidFill>
          </a:ln>
        </p:spPr>
        <p:txBody>
          <a:bodyPr lIns="40019" tIns="40019" rIns="40019" bIns="40019" anchor="ctr"/>
          <a:lstStyle/>
          <a:p>
            <a:pPr algn="ctr" defTabSz="829875">
              <a:lnSpc>
                <a:spcPct val="120000"/>
              </a:lnSpc>
              <a:defRPr sz="1400" i="1" u="sng">
                <a:latin typeface="Arial"/>
                <a:ea typeface="Arial"/>
                <a:cs typeface="Arial"/>
                <a:sym typeface="Arial"/>
              </a:defRPr>
            </a:pPr>
            <a:endParaRPr/>
          </a:p>
        </p:txBody>
      </p:sp>
      <p:grpSp>
        <p:nvGrpSpPr>
          <p:cNvPr id="118" name="Group 70"/>
          <p:cNvGrpSpPr/>
          <p:nvPr/>
        </p:nvGrpSpPr>
        <p:grpSpPr>
          <a:xfrm>
            <a:off x="385524" y="817257"/>
            <a:ext cx="8601008" cy="80092"/>
            <a:chOff x="0" y="0"/>
            <a:chExt cx="8601006" cy="80091"/>
          </a:xfrm>
        </p:grpSpPr>
        <p:sp>
          <p:nvSpPr>
            <p:cNvPr id="94" name="Line 7"/>
            <p:cNvSpPr/>
            <p:nvPr/>
          </p:nvSpPr>
          <p:spPr>
            <a:xfrm flipH="1" flipV="1">
              <a:off x="-1" y="31221"/>
              <a:ext cx="8601009" cy="1"/>
            </a:xfrm>
            <a:prstGeom prst="line">
              <a:avLst/>
            </a:prstGeom>
            <a:noFill/>
            <a:ln w="3175" cap="flat">
              <a:solidFill>
                <a:srgbClr val="595959"/>
              </a:solidFill>
              <a:prstDash val="solid"/>
              <a:round/>
            </a:ln>
            <a:effectLst/>
          </p:spPr>
          <p:txBody>
            <a:bodyPr wrap="square" lIns="40019" tIns="40019" rIns="40019" bIns="40019" numCol="1" anchor="ctr">
              <a:noAutofit/>
            </a:bodyPr>
            <a:lstStyle/>
            <a:p>
              <a:pPr algn="ctr" defTabSz="829875">
                <a:lnSpc>
                  <a:spcPct val="120000"/>
                </a:lnSpc>
                <a:defRPr sz="1400" i="1" u="sng">
                  <a:latin typeface="Arial"/>
                  <a:ea typeface="Arial"/>
                  <a:cs typeface="Arial"/>
                  <a:sym typeface="Arial"/>
                </a:defRPr>
              </a:pPr>
              <a:endParaRPr/>
            </a:p>
          </p:txBody>
        </p:sp>
        <p:pic>
          <p:nvPicPr>
            <p:cNvPr id="95" name="Picture 8" descr="Picture 8"/>
            <p:cNvPicPr>
              <a:picLocks noChangeAspect="1"/>
            </p:cNvPicPr>
            <p:nvPr/>
          </p:nvPicPr>
          <p:blipFill>
            <a:blip r:embed="rId2"/>
            <a:srcRect l="1840" t="32812" r="94781"/>
            <a:stretch>
              <a:fillRect/>
            </a:stretch>
          </p:blipFill>
          <p:spPr>
            <a:xfrm>
              <a:off x="670596" y="1357"/>
              <a:ext cx="78735" cy="78735"/>
            </a:xfrm>
            <a:prstGeom prst="rect">
              <a:avLst/>
            </a:prstGeom>
            <a:ln w="12700" cap="flat">
              <a:noFill/>
              <a:miter lim="400000"/>
            </a:ln>
            <a:effectLst>
              <a:outerShdw blurRad="38100" dist="38100" dir="5400000" rotWithShape="0">
                <a:srgbClr val="FFFFFF"/>
              </a:outerShdw>
            </a:effectLst>
          </p:spPr>
        </p:pic>
        <p:pic>
          <p:nvPicPr>
            <p:cNvPr id="96" name="Picture 9" descr="Picture 9"/>
            <p:cNvPicPr>
              <a:picLocks noChangeAspect="1"/>
            </p:cNvPicPr>
            <p:nvPr/>
          </p:nvPicPr>
          <p:blipFill>
            <a:blip r:embed="rId2"/>
            <a:srcRect l="1840" t="32812" r="94781"/>
            <a:stretch>
              <a:fillRect/>
            </a:stretch>
          </p:blipFill>
          <p:spPr>
            <a:xfrm>
              <a:off x="787339" y="1357"/>
              <a:ext cx="78735" cy="78735"/>
            </a:xfrm>
            <a:prstGeom prst="rect">
              <a:avLst/>
            </a:prstGeom>
            <a:ln w="12700" cap="flat">
              <a:noFill/>
              <a:miter lim="400000"/>
            </a:ln>
            <a:effectLst>
              <a:outerShdw blurRad="38100" dist="38100" dir="5400000" rotWithShape="0">
                <a:srgbClr val="FFFFFF"/>
              </a:outerShdw>
            </a:effectLst>
          </p:spPr>
        </p:pic>
        <p:pic>
          <p:nvPicPr>
            <p:cNvPr id="97" name="Picture 12" descr="Picture 12"/>
            <p:cNvPicPr>
              <a:picLocks noChangeAspect="1"/>
            </p:cNvPicPr>
            <p:nvPr/>
          </p:nvPicPr>
          <p:blipFill>
            <a:blip r:embed="rId2"/>
            <a:srcRect l="1840" t="32812" r="94781"/>
            <a:stretch>
              <a:fillRect/>
            </a:stretch>
          </p:blipFill>
          <p:spPr>
            <a:xfrm>
              <a:off x="905441" y="1357"/>
              <a:ext cx="77377" cy="78735"/>
            </a:xfrm>
            <a:prstGeom prst="rect">
              <a:avLst/>
            </a:prstGeom>
            <a:ln w="12700" cap="flat">
              <a:noFill/>
              <a:miter lim="400000"/>
            </a:ln>
            <a:effectLst>
              <a:outerShdw blurRad="38100" dist="38100" dir="5400000" rotWithShape="0">
                <a:srgbClr val="FFFFFF"/>
              </a:outerShdw>
            </a:effectLst>
          </p:spPr>
        </p:pic>
        <p:pic>
          <p:nvPicPr>
            <p:cNvPr id="98" name="Picture 13" descr="Picture 13"/>
            <p:cNvPicPr>
              <a:picLocks noChangeAspect="1"/>
            </p:cNvPicPr>
            <p:nvPr/>
          </p:nvPicPr>
          <p:blipFill>
            <a:blip r:embed="rId2"/>
            <a:srcRect l="1840" t="32812" r="94781"/>
            <a:stretch>
              <a:fillRect/>
            </a:stretch>
          </p:blipFill>
          <p:spPr>
            <a:xfrm>
              <a:off x="1022184" y="1357"/>
              <a:ext cx="78735" cy="78735"/>
            </a:xfrm>
            <a:prstGeom prst="rect">
              <a:avLst/>
            </a:prstGeom>
            <a:ln w="12700" cap="flat">
              <a:noFill/>
              <a:miter lim="400000"/>
            </a:ln>
            <a:effectLst>
              <a:outerShdw blurRad="38100" dist="38100" dir="5400000" rotWithShape="0">
                <a:srgbClr val="FFFFFF"/>
              </a:outerShdw>
            </a:effectLst>
          </p:spPr>
        </p:pic>
        <p:pic>
          <p:nvPicPr>
            <p:cNvPr id="99" name="Picture 14" descr="Picture 14"/>
            <p:cNvPicPr>
              <a:picLocks noChangeAspect="1"/>
            </p:cNvPicPr>
            <p:nvPr/>
          </p:nvPicPr>
          <p:blipFill>
            <a:blip r:embed="rId2"/>
            <a:srcRect l="1840" t="32812" r="94781"/>
            <a:stretch>
              <a:fillRect/>
            </a:stretch>
          </p:blipFill>
          <p:spPr>
            <a:xfrm>
              <a:off x="1140284" y="1357"/>
              <a:ext cx="77378" cy="78735"/>
            </a:xfrm>
            <a:prstGeom prst="rect">
              <a:avLst/>
            </a:prstGeom>
            <a:ln w="12700" cap="flat">
              <a:noFill/>
              <a:miter lim="400000"/>
            </a:ln>
            <a:effectLst>
              <a:outerShdw blurRad="38100" dist="38100" dir="5400000" rotWithShape="0">
                <a:srgbClr val="FFFFFF"/>
              </a:outerShdw>
            </a:effectLst>
          </p:spPr>
        </p:pic>
        <p:pic>
          <p:nvPicPr>
            <p:cNvPr id="100" name="Picture 35" descr="Picture 35"/>
            <p:cNvPicPr>
              <a:picLocks noChangeAspect="1"/>
            </p:cNvPicPr>
            <p:nvPr/>
          </p:nvPicPr>
          <p:blipFill>
            <a:blip r:embed="rId2"/>
            <a:srcRect l="1840" t="32812" r="94781"/>
            <a:stretch>
              <a:fillRect/>
            </a:stretch>
          </p:blipFill>
          <p:spPr>
            <a:xfrm>
              <a:off x="1257028" y="0"/>
              <a:ext cx="77378" cy="78734"/>
            </a:xfrm>
            <a:prstGeom prst="rect">
              <a:avLst/>
            </a:prstGeom>
            <a:ln w="12700" cap="flat">
              <a:noFill/>
              <a:miter lim="400000"/>
            </a:ln>
            <a:effectLst>
              <a:outerShdw blurRad="38100" dist="38100" dir="5400000" rotWithShape="0">
                <a:srgbClr val="FFFFFF"/>
              </a:outerShdw>
            </a:effectLst>
          </p:spPr>
        </p:pic>
        <p:pic>
          <p:nvPicPr>
            <p:cNvPr id="101" name="Picture 36" descr="Picture 36"/>
            <p:cNvPicPr>
              <a:picLocks noChangeAspect="1"/>
            </p:cNvPicPr>
            <p:nvPr/>
          </p:nvPicPr>
          <p:blipFill>
            <a:blip r:embed="rId2"/>
            <a:srcRect l="1840" t="32812" r="94781"/>
            <a:stretch>
              <a:fillRect/>
            </a:stretch>
          </p:blipFill>
          <p:spPr>
            <a:xfrm>
              <a:off x="1373771" y="0"/>
              <a:ext cx="78735" cy="78734"/>
            </a:xfrm>
            <a:prstGeom prst="rect">
              <a:avLst/>
            </a:prstGeom>
            <a:ln w="12700" cap="flat">
              <a:noFill/>
              <a:miter lim="400000"/>
            </a:ln>
            <a:effectLst>
              <a:outerShdw blurRad="38100" dist="38100" dir="5400000" rotWithShape="0">
                <a:srgbClr val="FFFFFF"/>
              </a:outerShdw>
            </a:effectLst>
          </p:spPr>
        </p:pic>
        <p:pic>
          <p:nvPicPr>
            <p:cNvPr id="102" name="Picture 37" descr="Picture 37"/>
            <p:cNvPicPr>
              <a:picLocks noChangeAspect="1"/>
            </p:cNvPicPr>
            <p:nvPr/>
          </p:nvPicPr>
          <p:blipFill>
            <a:blip r:embed="rId2"/>
            <a:srcRect l="1840" t="32812" r="94781"/>
            <a:stretch>
              <a:fillRect/>
            </a:stretch>
          </p:blipFill>
          <p:spPr>
            <a:xfrm>
              <a:off x="1490515" y="0"/>
              <a:ext cx="78735" cy="78734"/>
            </a:xfrm>
            <a:prstGeom prst="rect">
              <a:avLst/>
            </a:prstGeom>
            <a:ln w="12700" cap="flat">
              <a:noFill/>
              <a:miter lim="400000"/>
            </a:ln>
            <a:effectLst>
              <a:outerShdw blurRad="38100" dist="38100" dir="5400000" rotWithShape="0">
                <a:srgbClr val="FFFFFF"/>
              </a:outerShdw>
            </a:effectLst>
          </p:spPr>
        </p:pic>
        <p:pic>
          <p:nvPicPr>
            <p:cNvPr id="103" name="Picture 38" descr="Picture 38"/>
            <p:cNvPicPr>
              <a:picLocks noChangeAspect="1"/>
            </p:cNvPicPr>
            <p:nvPr/>
          </p:nvPicPr>
          <p:blipFill>
            <a:blip r:embed="rId2"/>
            <a:srcRect l="1840" t="32812" r="94781"/>
            <a:stretch>
              <a:fillRect/>
            </a:stretch>
          </p:blipFill>
          <p:spPr>
            <a:xfrm>
              <a:off x="1608616" y="0"/>
              <a:ext cx="77377" cy="78734"/>
            </a:xfrm>
            <a:prstGeom prst="rect">
              <a:avLst/>
            </a:prstGeom>
            <a:ln w="12700" cap="flat">
              <a:noFill/>
              <a:miter lim="400000"/>
            </a:ln>
            <a:effectLst>
              <a:outerShdw blurRad="38100" dist="38100" dir="5400000" rotWithShape="0">
                <a:srgbClr val="FFFFFF"/>
              </a:outerShdw>
            </a:effectLst>
          </p:spPr>
        </p:pic>
        <p:pic>
          <p:nvPicPr>
            <p:cNvPr id="104" name="Picture 39" descr="Picture 39"/>
            <p:cNvPicPr>
              <a:picLocks noChangeAspect="1"/>
            </p:cNvPicPr>
            <p:nvPr/>
          </p:nvPicPr>
          <p:blipFill>
            <a:blip r:embed="rId2"/>
            <a:srcRect l="1840" t="32812" r="94781"/>
            <a:stretch>
              <a:fillRect/>
            </a:stretch>
          </p:blipFill>
          <p:spPr>
            <a:xfrm>
              <a:off x="1725360" y="0"/>
              <a:ext cx="78735" cy="78734"/>
            </a:xfrm>
            <a:prstGeom prst="rect">
              <a:avLst/>
            </a:prstGeom>
            <a:ln w="12700" cap="flat">
              <a:noFill/>
              <a:miter lim="400000"/>
            </a:ln>
            <a:effectLst>
              <a:outerShdw blurRad="38100" dist="38100" dir="5400000" rotWithShape="0">
                <a:srgbClr val="FFFFFF"/>
              </a:outerShdw>
            </a:effectLst>
          </p:spPr>
        </p:pic>
        <p:pic>
          <p:nvPicPr>
            <p:cNvPr id="105" name="Picture 40" descr="Picture 40"/>
            <p:cNvPicPr>
              <a:picLocks noChangeAspect="1"/>
            </p:cNvPicPr>
            <p:nvPr/>
          </p:nvPicPr>
          <p:blipFill>
            <a:blip r:embed="rId2"/>
            <a:srcRect l="1840" t="32812" r="94781"/>
            <a:stretch>
              <a:fillRect/>
            </a:stretch>
          </p:blipFill>
          <p:spPr>
            <a:xfrm>
              <a:off x="1842103" y="1357"/>
              <a:ext cx="77377" cy="78735"/>
            </a:xfrm>
            <a:prstGeom prst="rect">
              <a:avLst/>
            </a:prstGeom>
            <a:ln w="12700" cap="flat">
              <a:noFill/>
              <a:miter lim="400000"/>
            </a:ln>
            <a:effectLst>
              <a:outerShdw blurRad="38100" dist="38100" dir="5400000" rotWithShape="0">
                <a:srgbClr val="FFFFFF"/>
              </a:outerShdw>
            </a:effectLst>
          </p:spPr>
        </p:pic>
        <p:pic>
          <p:nvPicPr>
            <p:cNvPr id="106" name="Picture 41" descr="Picture 41"/>
            <p:cNvPicPr>
              <a:picLocks noChangeAspect="1"/>
            </p:cNvPicPr>
            <p:nvPr/>
          </p:nvPicPr>
          <p:blipFill>
            <a:blip r:embed="rId2"/>
            <a:srcRect l="1840" t="32812" r="94781"/>
            <a:stretch>
              <a:fillRect/>
            </a:stretch>
          </p:blipFill>
          <p:spPr>
            <a:xfrm>
              <a:off x="1958847" y="1357"/>
              <a:ext cx="78735" cy="78735"/>
            </a:xfrm>
            <a:prstGeom prst="rect">
              <a:avLst/>
            </a:prstGeom>
            <a:ln w="12700" cap="flat">
              <a:noFill/>
              <a:miter lim="400000"/>
            </a:ln>
            <a:effectLst>
              <a:outerShdw blurRad="38100" dist="38100" dir="5400000" rotWithShape="0">
                <a:srgbClr val="FFFFFF"/>
              </a:outerShdw>
            </a:effectLst>
          </p:spPr>
        </p:pic>
        <p:pic>
          <p:nvPicPr>
            <p:cNvPr id="107" name="Picture 42" descr="Picture 42"/>
            <p:cNvPicPr>
              <a:picLocks noChangeAspect="1"/>
            </p:cNvPicPr>
            <p:nvPr/>
          </p:nvPicPr>
          <p:blipFill>
            <a:blip r:embed="rId2"/>
            <a:srcRect l="1840" t="32812" r="94781"/>
            <a:stretch>
              <a:fillRect/>
            </a:stretch>
          </p:blipFill>
          <p:spPr>
            <a:xfrm>
              <a:off x="2076947" y="1357"/>
              <a:ext cx="77378" cy="78735"/>
            </a:xfrm>
            <a:prstGeom prst="rect">
              <a:avLst/>
            </a:prstGeom>
            <a:ln w="12700" cap="flat">
              <a:noFill/>
              <a:miter lim="400000"/>
            </a:ln>
            <a:effectLst>
              <a:outerShdw blurRad="38100" dist="38100" dir="5400000" rotWithShape="0">
                <a:srgbClr val="FFFFFF"/>
              </a:outerShdw>
            </a:effectLst>
          </p:spPr>
        </p:pic>
        <p:pic>
          <p:nvPicPr>
            <p:cNvPr id="108" name="Picture 43" descr="Picture 43"/>
            <p:cNvPicPr>
              <a:picLocks noChangeAspect="1"/>
            </p:cNvPicPr>
            <p:nvPr/>
          </p:nvPicPr>
          <p:blipFill>
            <a:blip r:embed="rId2"/>
            <a:srcRect l="1840" t="32812" r="94781"/>
            <a:stretch>
              <a:fillRect/>
            </a:stretch>
          </p:blipFill>
          <p:spPr>
            <a:xfrm>
              <a:off x="2193691" y="1357"/>
              <a:ext cx="78735" cy="78735"/>
            </a:xfrm>
            <a:prstGeom prst="rect">
              <a:avLst/>
            </a:prstGeom>
            <a:ln w="12700" cap="flat">
              <a:noFill/>
              <a:miter lim="400000"/>
            </a:ln>
            <a:effectLst>
              <a:outerShdw blurRad="38100" dist="38100" dir="5400000" rotWithShape="0">
                <a:srgbClr val="FFFFFF"/>
              </a:outerShdw>
            </a:effectLst>
          </p:spPr>
        </p:pic>
        <p:pic>
          <p:nvPicPr>
            <p:cNvPr id="109" name="Picture 44" descr="Picture 44"/>
            <p:cNvPicPr>
              <a:picLocks noChangeAspect="1"/>
            </p:cNvPicPr>
            <p:nvPr/>
          </p:nvPicPr>
          <p:blipFill>
            <a:blip r:embed="rId2"/>
            <a:srcRect l="1840" t="32812" r="94781"/>
            <a:stretch>
              <a:fillRect/>
            </a:stretch>
          </p:blipFill>
          <p:spPr>
            <a:xfrm>
              <a:off x="2310434" y="1357"/>
              <a:ext cx="78735" cy="78735"/>
            </a:xfrm>
            <a:prstGeom prst="rect">
              <a:avLst/>
            </a:prstGeom>
            <a:ln w="12700" cap="flat">
              <a:noFill/>
              <a:miter lim="400000"/>
            </a:ln>
            <a:effectLst>
              <a:outerShdw blurRad="38100" dist="38100" dir="5400000" rotWithShape="0">
                <a:srgbClr val="FFFFFF"/>
              </a:outerShdw>
            </a:effectLst>
          </p:spPr>
        </p:pic>
        <p:pic>
          <p:nvPicPr>
            <p:cNvPr id="110" name="Picture 45" descr="Picture 45"/>
            <p:cNvPicPr>
              <a:picLocks noChangeAspect="1"/>
            </p:cNvPicPr>
            <p:nvPr/>
          </p:nvPicPr>
          <p:blipFill>
            <a:blip r:embed="rId2"/>
            <a:srcRect l="1840" t="32812" r="94781"/>
            <a:stretch>
              <a:fillRect/>
            </a:stretch>
          </p:blipFill>
          <p:spPr>
            <a:xfrm>
              <a:off x="2427178" y="0"/>
              <a:ext cx="78735" cy="78734"/>
            </a:xfrm>
            <a:prstGeom prst="rect">
              <a:avLst/>
            </a:prstGeom>
            <a:ln w="12700" cap="flat">
              <a:noFill/>
              <a:miter lim="400000"/>
            </a:ln>
            <a:effectLst>
              <a:outerShdw blurRad="38100" dist="38100" dir="5400000" rotWithShape="0">
                <a:srgbClr val="FFFFFF"/>
              </a:outerShdw>
            </a:effectLst>
          </p:spPr>
        </p:pic>
        <p:pic>
          <p:nvPicPr>
            <p:cNvPr id="111" name="Picture 46" descr="Picture 46"/>
            <p:cNvPicPr>
              <a:picLocks noChangeAspect="1"/>
            </p:cNvPicPr>
            <p:nvPr/>
          </p:nvPicPr>
          <p:blipFill>
            <a:blip r:embed="rId2"/>
            <a:srcRect l="1840" t="32812" r="94781"/>
            <a:stretch>
              <a:fillRect/>
            </a:stretch>
          </p:blipFill>
          <p:spPr>
            <a:xfrm>
              <a:off x="2545279" y="0"/>
              <a:ext cx="77377" cy="78734"/>
            </a:xfrm>
            <a:prstGeom prst="rect">
              <a:avLst/>
            </a:prstGeom>
            <a:ln w="12700" cap="flat">
              <a:noFill/>
              <a:miter lim="400000"/>
            </a:ln>
            <a:effectLst>
              <a:outerShdw blurRad="38100" dist="38100" dir="5400000" rotWithShape="0">
                <a:srgbClr val="FFFFFF"/>
              </a:outerShdw>
            </a:effectLst>
          </p:spPr>
        </p:pic>
        <p:pic>
          <p:nvPicPr>
            <p:cNvPr id="112" name="Picture 47" descr="Picture 47"/>
            <p:cNvPicPr>
              <a:picLocks noChangeAspect="1"/>
            </p:cNvPicPr>
            <p:nvPr/>
          </p:nvPicPr>
          <p:blipFill>
            <a:blip r:embed="rId2"/>
            <a:srcRect l="1840" t="32812" r="94781"/>
            <a:stretch>
              <a:fillRect/>
            </a:stretch>
          </p:blipFill>
          <p:spPr>
            <a:xfrm>
              <a:off x="2662023" y="0"/>
              <a:ext cx="78735" cy="78734"/>
            </a:xfrm>
            <a:prstGeom prst="rect">
              <a:avLst/>
            </a:prstGeom>
            <a:ln w="12700" cap="flat">
              <a:noFill/>
              <a:miter lim="400000"/>
            </a:ln>
            <a:effectLst>
              <a:outerShdw blurRad="38100" dist="38100" dir="5400000" rotWithShape="0">
                <a:srgbClr val="FFFFFF"/>
              </a:outerShdw>
            </a:effectLst>
          </p:spPr>
        </p:pic>
        <p:pic>
          <p:nvPicPr>
            <p:cNvPr id="113" name="Picture 48" descr="Picture 48"/>
            <p:cNvPicPr>
              <a:picLocks noChangeAspect="1"/>
            </p:cNvPicPr>
            <p:nvPr/>
          </p:nvPicPr>
          <p:blipFill>
            <a:blip r:embed="rId2"/>
            <a:srcRect l="1840" t="32812" r="94781"/>
            <a:stretch>
              <a:fillRect/>
            </a:stretch>
          </p:blipFill>
          <p:spPr>
            <a:xfrm>
              <a:off x="2780123" y="0"/>
              <a:ext cx="77378" cy="78734"/>
            </a:xfrm>
            <a:prstGeom prst="rect">
              <a:avLst/>
            </a:prstGeom>
            <a:ln w="12700" cap="flat">
              <a:noFill/>
              <a:miter lim="400000"/>
            </a:ln>
            <a:effectLst>
              <a:outerShdw blurRad="38100" dist="38100" dir="5400000" rotWithShape="0">
                <a:srgbClr val="FFFFFF"/>
              </a:outerShdw>
            </a:effectLst>
          </p:spPr>
        </p:pic>
        <p:pic>
          <p:nvPicPr>
            <p:cNvPr id="114" name="Picture 49" descr="Picture 49"/>
            <p:cNvPicPr>
              <a:picLocks noChangeAspect="1"/>
            </p:cNvPicPr>
            <p:nvPr/>
          </p:nvPicPr>
          <p:blipFill>
            <a:blip r:embed="rId2"/>
            <a:srcRect l="1840" t="32812" r="94781"/>
            <a:stretch>
              <a:fillRect/>
            </a:stretch>
          </p:blipFill>
          <p:spPr>
            <a:xfrm>
              <a:off x="2896866" y="0"/>
              <a:ext cx="78735" cy="78734"/>
            </a:xfrm>
            <a:prstGeom prst="rect">
              <a:avLst/>
            </a:prstGeom>
            <a:ln w="12700" cap="flat">
              <a:noFill/>
              <a:miter lim="400000"/>
            </a:ln>
            <a:effectLst>
              <a:outerShdw blurRad="38100" dist="38100" dir="5400000" rotWithShape="0">
                <a:srgbClr val="FFFFFF"/>
              </a:outerShdw>
            </a:effectLst>
          </p:spPr>
        </p:pic>
        <p:pic>
          <p:nvPicPr>
            <p:cNvPr id="115" name="Picture 50" descr="Picture 50"/>
            <p:cNvPicPr>
              <a:picLocks noChangeAspect="1"/>
            </p:cNvPicPr>
            <p:nvPr/>
          </p:nvPicPr>
          <p:blipFill>
            <a:blip r:embed="rId2"/>
            <a:srcRect l="1840" t="32812" r="94781"/>
            <a:stretch>
              <a:fillRect/>
            </a:stretch>
          </p:blipFill>
          <p:spPr>
            <a:xfrm>
              <a:off x="3012253" y="1357"/>
              <a:ext cx="77377" cy="78735"/>
            </a:xfrm>
            <a:prstGeom prst="rect">
              <a:avLst/>
            </a:prstGeom>
            <a:ln w="12700" cap="flat">
              <a:noFill/>
              <a:miter lim="400000"/>
            </a:ln>
            <a:effectLst>
              <a:outerShdw blurRad="38100" dist="38100" dir="5400000" rotWithShape="0">
                <a:srgbClr val="FFFFFF"/>
              </a:outerShdw>
            </a:effectLst>
          </p:spPr>
        </p:pic>
        <p:pic>
          <p:nvPicPr>
            <p:cNvPr id="116" name="Picture 51" descr="Picture 51"/>
            <p:cNvPicPr>
              <a:picLocks noChangeAspect="1"/>
            </p:cNvPicPr>
            <p:nvPr/>
          </p:nvPicPr>
          <p:blipFill>
            <a:blip r:embed="rId2"/>
            <a:srcRect l="1840" t="32812" r="94781"/>
            <a:stretch>
              <a:fillRect/>
            </a:stretch>
          </p:blipFill>
          <p:spPr>
            <a:xfrm>
              <a:off x="3128996" y="1357"/>
              <a:ext cx="78735" cy="78735"/>
            </a:xfrm>
            <a:prstGeom prst="rect">
              <a:avLst/>
            </a:prstGeom>
            <a:ln w="12700" cap="flat">
              <a:noFill/>
              <a:miter lim="400000"/>
            </a:ln>
            <a:effectLst>
              <a:outerShdw blurRad="38100" dist="38100" dir="5400000" rotWithShape="0">
                <a:srgbClr val="FFFFFF"/>
              </a:outerShdw>
            </a:effectLst>
          </p:spPr>
        </p:pic>
        <p:pic>
          <p:nvPicPr>
            <p:cNvPr id="117" name="Picture 52" descr="Picture 52"/>
            <p:cNvPicPr>
              <a:picLocks noChangeAspect="1"/>
            </p:cNvPicPr>
            <p:nvPr/>
          </p:nvPicPr>
          <p:blipFill>
            <a:blip r:embed="rId2"/>
            <a:srcRect l="1840" t="32812" r="94781"/>
            <a:stretch>
              <a:fillRect/>
            </a:stretch>
          </p:blipFill>
          <p:spPr>
            <a:xfrm>
              <a:off x="3245740" y="1357"/>
              <a:ext cx="78735" cy="78735"/>
            </a:xfrm>
            <a:prstGeom prst="rect">
              <a:avLst/>
            </a:prstGeom>
            <a:ln w="12700" cap="flat">
              <a:noFill/>
              <a:miter lim="400000"/>
            </a:ln>
            <a:effectLst>
              <a:outerShdw blurRad="38100" dist="38100" dir="5400000" rotWithShape="0">
                <a:srgbClr val="FFFFFF"/>
              </a:outerShdw>
            </a:effectLst>
          </p:spPr>
        </p:pic>
      </p:grpSp>
      <p:sp>
        <p:nvSpPr>
          <p:cNvPr id="119" name="Rectangle 4"/>
          <p:cNvSpPr txBox="1"/>
          <p:nvPr/>
        </p:nvSpPr>
        <p:spPr>
          <a:xfrm>
            <a:off x="340123" y="6532272"/>
            <a:ext cx="6878905" cy="2124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9095" tIns="39095" rIns="39095" bIns="39095">
            <a:spAutoFit/>
          </a:bodyPr>
          <a:lstStyle>
            <a:lvl1pPr defTabSz="829875">
              <a:lnSpc>
                <a:spcPct val="120000"/>
              </a:lnSpc>
              <a:defRPr sz="1100" i="1" u="sng"/>
            </a:lvl1pPr>
          </a:lstStyle>
          <a:p>
            <a:r>
              <a:t>School of Technology, Department of Computer Science and Engineering, The Apollo University, Chittoor</a:t>
            </a:r>
          </a:p>
        </p:txBody>
      </p:sp>
      <p:sp>
        <p:nvSpPr>
          <p:cNvPr id="120" name="Slide Number"/>
          <p:cNvSpPr txBox="1">
            <a:spLocks noGrp="1"/>
          </p:cNvSpPr>
          <p:nvPr>
            <p:ph type="sldNum" sz="quarter" idx="2"/>
          </p:nvPr>
        </p:nvSpPr>
        <p:spPr>
          <a:xfrm>
            <a:off x="8649861" y="6433712"/>
            <a:ext cx="139837" cy="127001"/>
          </a:xfrm>
          <a:prstGeom prst="rect">
            <a:avLst/>
          </a:prstGeom>
        </p:spPr>
        <p:txBody>
          <a:bodyPr lIns="0" tIns="0" rIns="0" bIns="0" anchor="b"/>
          <a:lstStyle>
            <a:lvl1pPr defTabSz="829875">
              <a:defRPr sz="900">
                <a:solidFill>
                  <a:srgbClr val="000000"/>
                </a:solidFill>
                <a:latin typeface="Arial"/>
                <a:ea typeface="Arial"/>
                <a:cs typeface="Arial"/>
                <a:sym typeface="Arial"/>
              </a:defRPr>
            </a:lvl1pPr>
          </a:lstStyle>
          <a:p>
            <a:fld id="{86CB4B4D-7CA3-9044-876B-883B54F8677D}" type="slidenum">
              <a:t>‹#›</a:t>
            </a:fld>
            <a:endParaRPr/>
          </a:p>
        </p:txBody>
      </p:sp>
      <p:pic>
        <p:nvPicPr>
          <p:cNvPr id="121" name="images.jpeg" descr="images.jpeg"/>
          <p:cNvPicPr>
            <a:picLocks noChangeAspect="1"/>
          </p:cNvPicPr>
          <p:nvPr/>
        </p:nvPicPr>
        <p:blipFill>
          <a:blip r:embed="rId3"/>
          <a:stretch>
            <a:fillRect/>
          </a:stretch>
        </p:blipFill>
        <p:spPr>
          <a:xfrm>
            <a:off x="7638121" y="34549"/>
            <a:ext cx="1398349" cy="1398349"/>
          </a:xfrm>
          <a:prstGeom prst="rect">
            <a:avLst/>
          </a:prstGeom>
          <a:ln w="12700">
            <a:miter lim="400000"/>
          </a:ln>
        </p:spPr>
      </p:pic>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74638"/>
            <a:ext cx="8229600"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 id="2147483658" r:id="rId8"/>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ubtitle 2"/>
          <p:cNvSpPr txBox="1"/>
          <p:nvPr/>
        </p:nvSpPr>
        <p:spPr>
          <a:xfrm>
            <a:off x="5910662" y="5216578"/>
            <a:ext cx="3146886" cy="12591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fontScale="92500" lnSpcReduction="20000"/>
          </a:bodyPr>
          <a:lstStyle/>
          <a:p>
            <a:pPr algn="just" defTabSz="283463">
              <a:spcBef>
                <a:spcPts val="400"/>
              </a:spcBef>
              <a:defRPr sz="1612">
                <a:solidFill>
                  <a:srgbClr val="888888"/>
                </a:solidFill>
                <a:latin typeface="Times New Roman"/>
                <a:ea typeface="Times New Roman"/>
                <a:cs typeface="Times New Roman"/>
                <a:sym typeface="Times New Roman"/>
              </a:defRPr>
            </a:pPr>
            <a:r>
              <a:rPr dirty="0"/>
              <a:t>Supervisor Details</a:t>
            </a:r>
            <a:endParaRPr lang="en-US" dirty="0"/>
          </a:p>
          <a:p>
            <a:pPr algn="just" defTabSz="283463">
              <a:spcBef>
                <a:spcPts val="400"/>
              </a:spcBef>
              <a:defRPr sz="1612">
                <a:solidFill>
                  <a:srgbClr val="888888"/>
                </a:solidFill>
                <a:latin typeface="Times New Roman"/>
                <a:ea typeface="Times New Roman"/>
                <a:cs typeface="Times New Roman"/>
                <a:sym typeface="Times New Roman"/>
              </a:defRPr>
            </a:pPr>
            <a:r>
              <a:rPr lang="en-US" dirty="0"/>
              <a:t>Guide name: </a:t>
            </a:r>
            <a:r>
              <a:rPr lang="en-US" dirty="0" err="1"/>
              <a:t>Mr</a:t>
            </a:r>
            <a:r>
              <a:rPr lang="en-US" dirty="0"/>
              <a:t> J Jacob Navin Kumar</a:t>
            </a:r>
            <a:endParaRPr dirty="0"/>
          </a:p>
          <a:p>
            <a:pPr algn="just" defTabSz="283463">
              <a:spcBef>
                <a:spcPts val="400"/>
              </a:spcBef>
              <a:defRPr sz="1612">
                <a:solidFill>
                  <a:srgbClr val="888888"/>
                </a:solidFill>
                <a:latin typeface="Times New Roman"/>
                <a:ea typeface="Times New Roman"/>
                <a:cs typeface="Times New Roman"/>
                <a:sym typeface="Times New Roman"/>
              </a:defRPr>
            </a:pPr>
            <a:r>
              <a:rPr lang="en-US" dirty="0"/>
              <a:t>Department of CSE</a:t>
            </a:r>
          </a:p>
          <a:p>
            <a:pPr algn="just" defTabSz="283463">
              <a:spcBef>
                <a:spcPts val="400"/>
              </a:spcBef>
              <a:defRPr sz="1612">
                <a:solidFill>
                  <a:srgbClr val="888888"/>
                </a:solidFill>
                <a:latin typeface="Times New Roman"/>
                <a:ea typeface="Times New Roman"/>
                <a:cs typeface="Times New Roman"/>
                <a:sym typeface="Times New Roman"/>
              </a:defRPr>
            </a:pPr>
            <a:r>
              <a:rPr lang="en-US" dirty="0"/>
              <a:t>School of technology</a:t>
            </a:r>
            <a:endParaRPr dirty="0"/>
          </a:p>
          <a:p>
            <a:pPr algn="just" defTabSz="283463">
              <a:spcBef>
                <a:spcPts val="400"/>
              </a:spcBef>
              <a:defRPr sz="1612">
                <a:solidFill>
                  <a:srgbClr val="888888"/>
                </a:solidFill>
                <a:latin typeface="Times New Roman"/>
                <a:ea typeface="Times New Roman"/>
                <a:cs typeface="Times New Roman"/>
                <a:sym typeface="Times New Roman"/>
              </a:defRPr>
            </a:pPr>
            <a:r>
              <a:rPr dirty="0"/>
              <a:t>The Apollo University</a:t>
            </a:r>
          </a:p>
        </p:txBody>
      </p:sp>
      <p:sp>
        <p:nvSpPr>
          <p:cNvPr id="131" name="Internship First Review Presentation"/>
          <p:cNvSpPr txBox="1"/>
          <p:nvPr/>
        </p:nvSpPr>
        <p:spPr>
          <a:xfrm>
            <a:off x="3995518" y="327117"/>
            <a:ext cx="92395" cy="492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2600">
                <a:latin typeface="Times New Roman"/>
                <a:ea typeface="Times New Roman"/>
                <a:cs typeface="Times New Roman"/>
                <a:sym typeface="Times New Roman"/>
              </a:defRPr>
            </a:lvl1pPr>
          </a:lstStyle>
          <a:p>
            <a:endParaRPr dirty="0"/>
          </a:p>
        </p:txBody>
      </p:sp>
      <p:sp>
        <p:nvSpPr>
          <p:cNvPr id="132" name="Internship Title…"/>
          <p:cNvSpPr txBox="1"/>
          <p:nvPr/>
        </p:nvSpPr>
        <p:spPr>
          <a:xfrm>
            <a:off x="778042" y="1626938"/>
            <a:ext cx="7600962" cy="17825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defRPr sz="2600">
                <a:latin typeface="Times New Roman"/>
                <a:ea typeface="Times New Roman"/>
                <a:cs typeface="Times New Roman"/>
                <a:sym typeface="Times New Roman"/>
              </a:defRPr>
            </a:pPr>
            <a:r>
              <a:rPr lang="en-US" dirty="0"/>
              <a:t>Project </a:t>
            </a:r>
            <a:r>
              <a:rPr dirty="0"/>
              <a:t> Title</a:t>
            </a:r>
          </a:p>
          <a:p>
            <a:pPr algn="ctr">
              <a:spcBef>
                <a:spcPts val="700"/>
              </a:spcBef>
              <a:defRPr sz="2600">
                <a:latin typeface="Times New Roman"/>
                <a:ea typeface="Times New Roman"/>
                <a:cs typeface="Times New Roman"/>
                <a:sym typeface="Times New Roman"/>
              </a:defRPr>
            </a:pPr>
            <a:r>
              <a:rPr lang="en-US" sz="2600" dirty="0">
                <a:sym typeface="Times New Roman"/>
              </a:rPr>
              <a:t>Proactive Academic Support System (PASS): A Behavioral Trend Analysis Framework for Early Risk Detection</a:t>
            </a:r>
            <a:endParaRPr dirty="0"/>
          </a:p>
        </p:txBody>
      </p:sp>
      <p:sp>
        <p:nvSpPr>
          <p:cNvPr id="133" name="School of Technology…"/>
          <p:cNvSpPr txBox="1"/>
          <p:nvPr/>
        </p:nvSpPr>
        <p:spPr>
          <a:xfrm>
            <a:off x="1287742" y="3909702"/>
            <a:ext cx="6568516" cy="8394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lgn="ctr">
              <a:defRPr sz="2600">
                <a:latin typeface="Times New Roman"/>
                <a:ea typeface="Times New Roman"/>
                <a:cs typeface="Times New Roman"/>
                <a:sym typeface="Times New Roman"/>
              </a:defRPr>
            </a:pPr>
            <a:r>
              <a:rPr dirty="0"/>
              <a:t>School of Technology</a:t>
            </a:r>
          </a:p>
          <a:p>
            <a:pPr algn="ctr">
              <a:defRPr sz="2600">
                <a:latin typeface="Times New Roman"/>
                <a:ea typeface="Times New Roman"/>
                <a:cs typeface="Times New Roman"/>
                <a:sym typeface="Times New Roman"/>
              </a:defRPr>
            </a:pPr>
            <a:r>
              <a:rPr dirty="0"/>
              <a:t>Department of Computer Science &amp; Engineering</a:t>
            </a:r>
          </a:p>
        </p:txBody>
      </p:sp>
      <p:pic>
        <p:nvPicPr>
          <p:cNvPr id="134" name="images.jpeg" descr="images.jpeg"/>
          <p:cNvPicPr>
            <a:picLocks noChangeAspect="1"/>
          </p:cNvPicPr>
          <p:nvPr/>
        </p:nvPicPr>
        <p:blipFill>
          <a:blip r:embed="rId2"/>
          <a:stretch>
            <a:fillRect/>
          </a:stretch>
        </p:blipFill>
        <p:spPr>
          <a:xfrm>
            <a:off x="7351317" y="-188496"/>
            <a:ext cx="1752399" cy="1752398"/>
          </a:xfrm>
          <a:prstGeom prst="rect">
            <a:avLst/>
          </a:prstGeom>
          <a:ln w="12700">
            <a:miter lim="400000"/>
          </a:ln>
        </p:spPr>
      </p:pic>
      <p:sp>
        <p:nvSpPr>
          <p:cNvPr id="135" name="Subtitle 2"/>
          <p:cNvSpPr txBox="1"/>
          <p:nvPr/>
        </p:nvSpPr>
        <p:spPr>
          <a:xfrm>
            <a:off x="431806" y="4804348"/>
            <a:ext cx="3899561" cy="16714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fontScale="92500" lnSpcReduction="10000"/>
          </a:bodyPr>
          <a:lstStyle/>
          <a:p>
            <a:pPr defTabSz="192023">
              <a:spcBef>
                <a:spcPts val="300"/>
              </a:spcBef>
              <a:defRPr sz="1133">
                <a:solidFill>
                  <a:srgbClr val="888888"/>
                </a:solidFill>
                <a:latin typeface="Times New Roman"/>
                <a:ea typeface="Times New Roman"/>
                <a:cs typeface="Times New Roman"/>
                <a:sym typeface="Times New Roman"/>
              </a:defRPr>
            </a:pPr>
            <a:r>
              <a:rPr dirty="0"/>
              <a:t>Students Details</a:t>
            </a:r>
          </a:p>
          <a:p>
            <a:pPr defTabSz="192023">
              <a:spcBef>
                <a:spcPts val="300"/>
              </a:spcBef>
              <a:defRPr sz="1133">
                <a:solidFill>
                  <a:srgbClr val="888888"/>
                </a:solidFill>
                <a:latin typeface="Times New Roman"/>
                <a:ea typeface="Times New Roman"/>
                <a:cs typeface="Times New Roman"/>
                <a:sym typeface="Times New Roman"/>
              </a:defRPr>
            </a:pPr>
            <a:r>
              <a:rPr dirty="0"/>
              <a:t>Name</a:t>
            </a:r>
            <a:r>
              <a:rPr lang="en-US" dirty="0"/>
              <a:t>: </a:t>
            </a:r>
            <a:r>
              <a:rPr lang="en-US" sz="1133" dirty="0">
                <a:sym typeface="Times New Roman"/>
              </a:rPr>
              <a:t>Madhavaram </a:t>
            </a:r>
            <a:r>
              <a:rPr lang="en-US" sz="1133" dirty="0" err="1">
                <a:sym typeface="Times New Roman"/>
              </a:rPr>
              <a:t>Midhun</a:t>
            </a:r>
            <a:r>
              <a:rPr lang="en-US" sz="1133" dirty="0">
                <a:sym typeface="Times New Roman"/>
              </a:rPr>
              <a:t>, E.P. Sai Vishal, </a:t>
            </a:r>
            <a:r>
              <a:rPr lang="en-US" sz="1133" dirty="0" err="1">
                <a:sym typeface="Times New Roman"/>
              </a:rPr>
              <a:t>Pulivelam</a:t>
            </a:r>
            <a:r>
              <a:rPr lang="en-US" sz="1133" dirty="0">
                <a:sym typeface="Times New Roman"/>
              </a:rPr>
              <a:t> Hemendra, </a:t>
            </a:r>
            <a:r>
              <a:rPr lang="en-US" sz="1133" dirty="0" err="1">
                <a:sym typeface="Times New Roman"/>
              </a:rPr>
              <a:t>M.Harshitha</a:t>
            </a:r>
            <a:endParaRPr dirty="0"/>
          </a:p>
          <a:p>
            <a:pPr defTabSz="192023">
              <a:spcBef>
                <a:spcPts val="300"/>
              </a:spcBef>
              <a:defRPr sz="1133">
                <a:solidFill>
                  <a:srgbClr val="888888"/>
                </a:solidFill>
                <a:latin typeface="Times New Roman"/>
                <a:ea typeface="Times New Roman"/>
                <a:cs typeface="Times New Roman"/>
                <a:sym typeface="Times New Roman"/>
              </a:defRPr>
            </a:pPr>
            <a:r>
              <a:rPr dirty="0"/>
              <a:t>reg.no</a:t>
            </a:r>
            <a:r>
              <a:rPr lang="en-US" dirty="0"/>
              <a:t>: 122210601132,122210601113,</a:t>
            </a:r>
          </a:p>
          <a:p>
            <a:pPr defTabSz="192023">
              <a:spcBef>
                <a:spcPts val="300"/>
              </a:spcBef>
              <a:defRPr sz="1133">
                <a:solidFill>
                  <a:srgbClr val="888888"/>
                </a:solidFill>
                <a:latin typeface="Times New Roman"/>
                <a:ea typeface="Times New Roman"/>
                <a:cs typeface="Times New Roman"/>
                <a:sym typeface="Times New Roman"/>
              </a:defRPr>
            </a:pPr>
            <a:r>
              <a:rPr lang="en-US" dirty="0"/>
              <a:t>122210601146,122210601133</a:t>
            </a:r>
            <a:endParaRPr dirty="0"/>
          </a:p>
          <a:p>
            <a:pPr defTabSz="192023">
              <a:spcBef>
                <a:spcPts val="300"/>
              </a:spcBef>
              <a:defRPr sz="1133">
                <a:solidFill>
                  <a:srgbClr val="888888"/>
                </a:solidFill>
                <a:latin typeface="Times New Roman"/>
                <a:ea typeface="Times New Roman"/>
                <a:cs typeface="Times New Roman"/>
                <a:sym typeface="Times New Roman"/>
              </a:defRPr>
            </a:pPr>
            <a:r>
              <a:rPr dirty="0"/>
              <a:t>Program: </a:t>
            </a:r>
            <a:r>
              <a:rPr lang="en-US" dirty="0" err="1"/>
              <a:t>Btech</a:t>
            </a:r>
            <a:r>
              <a:rPr lang="en-US" dirty="0"/>
              <a:t> </a:t>
            </a:r>
            <a:r>
              <a:rPr lang="en-US" dirty="0" err="1"/>
              <a:t>Cse</a:t>
            </a:r>
            <a:endParaRPr dirty="0"/>
          </a:p>
          <a:p>
            <a:pPr defTabSz="192023">
              <a:spcBef>
                <a:spcPts val="300"/>
              </a:spcBef>
              <a:defRPr sz="1133">
                <a:solidFill>
                  <a:srgbClr val="888888"/>
                </a:solidFill>
                <a:latin typeface="Times New Roman"/>
                <a:ea typeface="Times New Roman"/>
                <a:cs typeface="Times New Roman"/>
                <a:sym typeface="Times New Roman"/>
              </a:defRPr>
            </a:pPr>
            <a:r>
              <a:rPr dirty="0"/>
              <a:t>Department</a:t>
            </a:r>
            <a:r>
              <a:rPr lang="en-US" dirty="0"/>
              <a:t>: Computer Science and Engineering</a:t>
            </a:r>
            <a:endParaRPr dirty="0"/>
          </a:p>
          <a:p>
            <a:pPr defTabSz="192023">
              <a:spcBef>
                <a:spcPts val="300"/>
              </a:spcBef>
              <a:defRPr sz="1133">
                <a:solidFill>
                  <a:srgbClr val="888888"/>
                </a:solidFill>
                <a:latin typeface="Times New Roman"/>
                <a:ea typeface="Times New Roman"/>
                <a:cs typeface="Times New Roman"/>
                <a:sym typeface="Times New Roman"/>
              </a:defRPr>
            </a:pPr>
            <a:r>
              <a:rPr dirty="0"/>
              <a:t>School</a:t>
            </a:r>
            <a:r>
              <a:rPr lang="en-US" dirty="0"/>
              <a:t>: School of Technology</a:t>
            </a:r>
            <a:endParaRPr dirty="0"/>
          </a:p>
          <a:p>
            <a:pPr defTabSz="192023">
              <a:spcBef>
                <a:spcPts val="300"/>
              </a:spcBef>
              <a:defRPr sz="1133">
                <a:solidFill>
                  <a:srgbClr val="888888"/>
                </a:solidFill>
                <a:latin typeface="Times New Roman"/>
                <a:ea typeface="Times New Roman"/>
                <a:cs typeface="Times New Roman"/>
                <a:sym typeface="Times New Roman"/>
              </a:defRPr>
            </a:pPr>
            <a:r>
              <a:rPr dirty="0"/>
              <a:t>The Apollo University</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lide Number"/>
          <p:cNvSpPr txBox="1">
            <a:spLocks noGrp="1"/>
          </p:cNvSpPr>
          <p:nvPr>
            <p:ph type="sldNum" sz="quarter" idx="2"/>
          </p:nvPr>
        </p:nvSpPr>
        <p:spPr>
          <a:xfrm>
            <a:off x="8662697" y="6433711"/>
            <a:ext cx="127001" cy="1270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
        <p:nvSpPr>
          <p:cNvPr id="5" name="Rectangle 4"/>
          <p:cNvSpPr/>
          <p:nvPr/>
        </p:nvSpPr>
        <p:spPr>
          <a:xfrm>
            <a:off x="328188" y="112426"/>
            <a:ext cx="2401619" cy="707886"/>
          </a:xfrm>
          <a:prstGeom prst="rect">
            <a:avLst/>
          </a:prstGeom>
          <a:noFill/>
        </p:spPr>
        <p:txBody>
          <a:bodyPr wrap="none" lIns="91440" tIns="45720" rIns="91440" bIns="45720">
            <a:spAutoFit/>
          </a:bodyPr>
          <a:lstStyle/>
          <a:p>
            <a:pPr algn="ctr"/>
            <a:r>
              <a:rPr lang="en-US" sz="4000" b="1" dirty="0">
                <a:ln w="0"/>
                <a:solidFill>
                  <a:schemeClr val="accent1"/>
                </a:solidFill>
                <a:effectLst>
                  <a:outerShdw blurRad="38100" dist="25400" dir="5400000" algn="ctr" rotWithShape="0">
                    <a:srgbClr val="6E747A">
                      <a:alpha val="43000"/>
                    </a:srgbClr>
                  </a:outerShdw>
                </a:effectLst>
              </a:rPr>
              <a:t>ABSTRACT</a:t>
            </a:r>
          </a:p>
        </p:txBody>
      </p:sp>
      <p:sp>
        <p:nvSpPr>
          <p:cNvPr id="2" name="TextBox 1"/>
          <p:cNvSpPr txBox="1"/>
          <p:nvPr/>
        </p:nvSpPr>
        <p:spPr>
          <a:xfrm>
            <a:off x="704537" y="1413064"/>
            <a:ext cx="7734925" cy="4524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algn="just">
              <a:buFont typeface="Arial" panose="020B0604020202020204" pitchFamily="34" charset="0"/>
              <a:buChar char="•"/>
            </a:pPr>
            <a:r>
              <a:rPr lang="en-US" sz="1600" dirty="0"/>
              <a:t>Traditional academic monitoring systems are largely reactive, flagging at-risk students only after they have failed exams or missed critical deadlines. This delay significantly reduces the window for effective teacher intervention. The Proactive Academic Support System (PASS) addresses this critical gap by shifting the focus from retrospective grade reporting to predictive behavioral trend analysis. </a:t>
            </a:r>
          </a:p>
          <a:p>
            <a:pPr marL="285750" indent="-285750" algn="just">
              <a:buFont typeface="Arial" panose="020B0604020202020204" pitchFamily="34" charset="0"/>
              <a:buChar char="•"/>
            </a:pPr>
            <a:r>
              <a:rPr lang="en-US" sz="1600" dirty="0"/>
              <a:t>By utilizing a lightweight technology stack comprising Python, Flask, and SQLite, the developed system tracks temporal metrics such as assignment submission latency, attendance frequency, and performance variance. </a:t>
            </a:r>
          </a:p>
          <a:p>
            <a:pPr marL="285750" indent="-285750" algn="just">
              <a:buFont typeface="Arial" panose="020B0604020202020204" pitchFamily="34" charset="0"/>
              <a:buChar char="•"/>
            </a:pPr>
            <a:r>
              <a:rPr lang="en-US" sz="1600" dirty="0"/>
              <a:t>Unlike "black box" deep learning models which often lack interpretability, PASS employs transparent statistical analysis to detect "negative velocity"—specific patterns of decline that typically precede academic failure. </a:t>
            </a:r>
          </a:p>
          <a:p>
            <a:pPr marL="285750" indent="-285750" algn="just">
              <a:buFont typeface="Arial" panose="020B0604020202020204" pitchFamily="34" charset="0"/>
              <a:buChar char="•"/>
            </a:pPr>
            <a:r>
              <a:rPr lang="en-US" sz="1600" dirty="0"/>
              <a:t>The system generates real-time alerts on an intuitive dashboard, distinguishing between temporary performance slips and chronic academic issues. This granular visibility enables educators to intervene weeks in advance, addressing root causes like poor time management or wavering motivation before they impact final grades. </a:t>
            </a:r>
          </a:p>
          <a:p>
            <a:pPr marL="285750" indent="-285750" algn="just">
              <a:buFont typeface="Arial" panose="020B0604020202020204" pitchFamily="34" charset="0"/>
              <a:buChar char="•"/>
            </a:pPr>
            <a:r>
              <a:rPr lang="en-US" sz="1600" dirty="0"/>
              <a:t>Ultimately, PASS transforms academic support from a passive mechanism of recording failure into a proactive, data-driven safety net that significantly improves student retention and success rates.</a:t>
            </a:r>
            <a:endParaRPr kumimoji="0" lang="en-US" sz="1050" b="0" i="0" u="none" strike="noStrike" cap="none" spc="0" normalizeH="0" baseline="0" dirty="0">
              <a:ln>
                <a:noFill/>
              </a:ln>
              <a:solidFill>
                <a:srgbClr val="000000"/>
              </a:solidFill>
              <a:effectLst/>
              <a:uFillTx/>
              <a:latin typeface="+mn-lt"/>
              <a:ea typeface="+mn-ea"/>
              <a:cs typeface="+mn-cs"/>
              <a:sym typeface="Calibri"/>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7083" y="1101777"/>
            <a:ext cx="8506917" cy="44012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2800" dirty="0"/>
              <a:t>Existing systems suffer from:</a:t>
            </a:r>
          </a:p>
          <a:p>
            <a:pPr marL="457200" lvl="1" indent="-457200">
              <a:buFont typeface="Wingdings" panose="05000000000000000000" pitchFamily="2" charset="2"/>
              <a:buChar char="Ø"/>
            </a:pPr>
            <a:r>
              <a:rPr lang="en-US" sz="2800" dirty="0"/>
              <a:t>Reactive identification (students flagged only after failure)</a:t>
            </a:r>
          </a:p>
          <a:p>
            <a:pPr marL="457200" lvl="1" indent="-457200">
              <a:buFont typeface="Wingdings" panose="05000000000000000000" pitchFamily="2" charset="2"/>
              <a:buChar char="Ø"/>
            </a:pPr>
            <a:r>
              <a:rPr lang="en-US" sz="2800" dirty="0"/>
              <a:t>Manual data analysis which is time-consuming for educators.</a:t>
            </a:r>
          </a:p>
          <a:p>
            <a:pPr marL="457200" lvl="1" indent="-457200">
              <a:buFont typeface="Wingdings" panose="05000000000000000000" pitchFamily="2" charset="2"/>
              <a:buChar char="Ø"/>
            </a:pPr>
            <a:r>
              <a:rPr lang="en-US" sz="2800" dirty="0"/>
              <a:t>Limited scalability for large student cohorts.</a:t>
            </a:r>
          </a:p>
          <a:p>
            <a:pPr marL="457200" lvl="1" indent="-457200">
              <a:buFont typeface="Wingdings" panose="05000000000000000000" pitchFamily="2" charset="2"/>
              <a:buChar char="Ø"/>
            </a:pPr>
            <a:endParaRPr lang="en-US" sz="2800" dirty="0"/>
          </a:p>
          <a:p>
            <a:r>
              <a:rPr lang="en-US" sz="2800" dirty="0"/>
              <a:t>Manual monitoring methods are retrospective and static. There is a need for a </a:t>
            </a:r>
            <a:r>
              <a:rPr lang="en-US" sz="2800" b="1" dirty="0"/>
              <a:t>proactive, data-driven, and real-time behavioral analysis solution.</a:t>
            </a:r>
            <a:r>
              <a:rPr kumimoji="0" lang="en-US" sz="1800" b="0" i="0" u="none" strike="noStrike" cap="none" spc="0" normalizeH="0" baseline="0" dirty="0">
                <a:ln>
                  <a:noFill/>
                </a:ln>
                <a:solidFill>
                  <a:srgbClr val="000000"/>
                </a:solidFill>
                <a:effectLst/>
                <a:uFillTx/>
                <a:latin typeface="+mn-lt"/>
                <a:ea typeface="+mn-ea"/>
                <a:cs typeface="+mn-cs"/>
                <a:sym typeface="Calibri"/>
              </a:rPr>
              <a:t>                 </a:t>
            </a:r>
          </a:p>
        </p:txBody>
      </p:sp>
      <p:sp>
        <p:nvSpPr>
          <p:cNvPr id="3" name="Rectangle 2"/>
          <p:cNvSpPr/>
          <p:nvPr/>
        </p:nvSpPr>
        <p:spPr>
          <a:xfrm>
            <a:off x="358271" y="0"/>
            <a:ext cx="5009706" cy="707886"/>
          </a:xfrm>
          <a:prstGeom prst="rect">
            <a:avLst/>
          </a:prstGeom>
          <a:noFill/>
        </p:spPr>
        <p:txBody>
          <a:bodyPr wrap="none" lIns="91440" tIns="45720" rIns="91440" bIns="45720">
            <a:spAutoFit/>
          </a:bodyPr>
          <a:lstStyle/>
          <a:p>
            <a:pPr algn="ctr"/>
            <a:r>
              <a:rPr lang="en-US" sz="4000" b="1" dirty="0">
                <a:ln w="0"/>
                <a:solidFill>
                  <a:schemeClr val="accent1"/>
                </a:solidFill>
                <a:effectLst>
                  <a:outerShdw blurRad="38100" dist="25400" dir="5400000" algn="ctr" rotWithShape="0">
                    <a:srgbClr val="6E747A">
                      <a:alpha val="43000"/>
                    </a:srgbClr>
                  </a:outerShdw>
                </a:effectLst>
              </a:rPr>
              <a:t>PROBLEM STATEMENT</a:t>
            </a:r>
          </a:p>
        </p:txBody>
      </p:sp>
    </p:spTree>
    <p:extLst>
      <p:ext uri="{BB962C8B-B14F-4D97-AF65-F5344CB8AC3E}">
        <p14:creationId xmlns:p14="http://schemas.microsoft.com/office/powerpoint/2010/main" val="326978405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4538" y="1731364"/>
            <a:ext cx="8178205" cy="18158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r>
              <a:rPr lang="en-US" sz="2800" dirty="0"/>
              <a:t>“To design and develop a system that overcomes the limitations of existing solutions by improving </a:t>
            </a:r>
            <a:r>
              <a:rPr lang="en-US" sz="2800" b="1" dirty="0"/>
              <a:t>early risk detection accuracy</a:t>
            </a:r>
            <a:r>
              <a:rPr lang="en-US" sz="2800" dirty="0"/>
              <a:t> using </a:t>
            </a:r>
            <a:r>
              <a:rPr lang="en-US" sz="2800" b="1" dirty="0"/>
              <a:t>statistical trend analysis and behavioral latency tracking</a:t>
            </a:r>
            <a:r>
              <a:rPr lang="en-US" sz="2800" dirty="0"/>
              <a:t>.”</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5" name="Rectangle 4"/>
          <p:cNvSpPr/>
          <p:nvPr/>
        </p:nvSpPr>
        <p:spPr>
          <a:xfrm>
            <a:off x="114615" y="0"/>
            <a:ext cx="5497019" cy="769441"/>
          </a:xfrm>
          <a:prstGeom prst="rect">
            <a:avLst/>
          </a:prstGeom>
          <a:noFill/>
        </p:spPr>
        <p:txBody>
          <a:bodyPr wrap="none" lIns="91440" tIns="45720" rIns="91440" bIns="4572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PROBLEM STATEMENT</a:t>
            </a:r>
          </a:p>
        </p:txBody>
      </p:sp>
    </p:spTree>
    <p:extLst>
      <p:ext uri="{BB962C8B-B14F-4D97-AF65-F5344CB8AC3E}">
        <p14:creationId xmlns:p14="http://schemas.microsoft.com/office/powerpoint/2010/main" val="360674648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7670" y="134911"/>
            <a:ext cx="5020926" cy="769441"/>
          </a:xfrm>
          <a:prstGeom prst="rect">
            <a:avLst/>
          </a:prstGeom>
          <a:noFill/>
        </p:spPr>
        <p:txBody>
          <a:bodyPr wrap="none" lIns="91440" tIns="45720" rIns="91440" bIns="4572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LITERATURE REVIEW</a:t>
            </a:r>
          </a:p>
        </p:txBody>
      </p:sp>
      <p:sp>
        <p:nvSpPr>
          <p:cNvPr id="3" name="TextBox 2"/>
          <p:cNvSpPr txBox="1"/>
          <p:nvPr/>
        </p:nvSpPr>
        <p:spPr>
          <a:xfrm>
            <a:off x="490928" y="1336120"/>
            <a:ext cx="8162144" cy="46166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algn="just">
              <a:buFont typeface="Arial" panose="020B0604020202020204" pitchFamily="34" charset="0"/>
              <a:buChar char="•"/>
            </a:pPr>
            <a:r>
              <a:rPr lang="en-US" sz="1400" dirty="0"/>
              <a:t>The development of </a:t>
            </a:r>
            <a:r>
              <a:rPr lang="en-US" sz="1400" b="1" dirty="0"/>
              <a:t>PASS</a:t>
            </a:r>
            <a:r>
              <a:rPr lang="en-US" sz="1400" dirty="0"/>
              <a:t> is grounded in existing research on Learning Analytics (LA) and Educational Data Mining (EDM), which confirms that student behavior is a stronger predictor of success than demographic data.</a:t>
            </a:r>
          </a:p>
          <a:p>
            <a:pPr marL="285750" indent="-285750" algn="just">
              <a:buFont typeface="Arial" panose="020B0604020202020204" pitchFamily="34" charset="0"/>
              <a:buChar char="•"/>
            </a:pPr>
            <a:r>
              <a:rPr lang="en-US" sz="1400" b="1" dirty="0"/>
              <a:t> Foundational Research: The Value of LMS Data</a:t>
            </a:r>
            <a:r>
              <a:rPr lang="en-US" sz="1400" dirty="0"/>
              <a:t> Macfadyen and Dawson (2010) established the theoretical framework for Early Warning Systems (EWS). Their research demonstrated that "student activity patterns"—specifically the frequency of logins and time spent on tasks—contain significant predictive signals for academic risk.</a:t>
            </a:r>
          </a:p>
          <a:p>
            <a:pPr marL="285750" indent="-285750" algn="just">
              <a:buFont typeface="Arial" panose="020B0604020202020204" pitchFamily="34" charset="0"/>
              <a:buChar char="•"/>
            </a:pPr>
            <a:r>
              <a:rPr lang="en-US" sz="1400" b="1" dirty="0"/>
              <a:t>Relevance to PASS:</a:t>
            </a:r>
            <a:r>
              <a:rPr lang="en-US" sz="1400" dirty="0"/>
              <a:t> This validates our decision to track </a:t>
            </a:r>
            <a:r>
              <a:rPr lang="en-US" sz="1400" i="1" dirty="0"/>
              <a:t>activity metrics</a:t>
            </a:r>
            <a:r>
              <a:rPr lang="en-US" sz="1400" dirty="0"/>
              <a:t> (submission latency) rather than just raw test scores.</a:t>
            </a:r>
          </a:p>
          <a:p>
            <a:pPr marL="285750" indent="-285750" algn="just">
              <a:buFont typeface="Arial" panose="020B0604020202020204" pitchFamily="34" charset="0"/>
              <a:buChar char="•"/>
            </a:pPr>
            <a:r>
              <a:rPr lang="en-US" sz="1400" b="1" dirty="0"/>
              <a:t>Current State of Art: Behavioral Tracking</a:t>
            </a:r>
            <a:r>
              <a:rPr lang="en-US" sz="1400" dirty="0"/>
              <a:t> More recent studies, such as those by </a:t>
            </a:r>
            <a:r>
              <a:rPr lang="en-US" sz="1400" b="1" dirty="0"/>
              <a:t>Osborne &amp; Lang (2023)</a:t>
            </a:r>
            <a:r>
              <a:rPr lang="en-US" sz="1400" dirty="0"/>
              <a:t> and </a:t>
            </a:r>
            <a:r>
              <a:rPr lang="en-US" sz="1400" b="1" dirty="0"/>
              <a:t>Al-Sulami et al. (2023)</a:t>
            </a:r>
            <a:r>
              <a:rPr lang="en-US" sz="1400" dirty="0"/>
              <a:t>, have shifted focus toward "Real-Time" detection. They utilized Learning Management System (LMS) logs to identify at-risk students weeks before final exams. Their findings indicate that "temporal behavior information" (changes in habits over time) is critical for accurate prediction.</a:t>
            </a:r>
          </a:p>
          <a:p>
            <a:pPr marL="285750" indent="-285750" algn="just">
              <a:buFont typeface="Arial" panose="020B0604020202020204" pitchFamily="34" charset="0"/>
              <a:buChar char="•"/>
            </a:pPr>
            <a:r>
              <a:rPr lang="en-US" sz="1400" b="1" dirty="0"/>
              <a:t>Relevance to PASS:</a:t>
            </a:r>
            <a:r>
              <a:rPr lang="en-US" sz="1400" dirty="0"/>
              <a:t> These studies confirm that checking for </a:t>
            </a:r>
            <a:r>
              <a:rPr lang="en-US" sz="1400" i="1" dirty="0"/>
              <a:t>consistency</a:t>
            </a:r>
            <a:r>
              <a:rPr lang="en-US" sz="1400" dirty="0"/>
              <a:t> (as PASS does) is scientifically valid.</a:t>
            </a:r>
          </a:p>
          <a:p>
            <a:pPr marL="285750" indent="-285750" algn="just">
              <a:buFont typeface="Arial" panose="020B0604020202020204" pitchFamily="34" charset="0"/>
              <a:buChar char="•"/>
            </a:pPr>
            <a:r>
              <a:rPr lang="en-US" sz="1400" b="1" dirty="0"/>
              <a:t> The Research Gap (Why PASS is needed)</a:t>
            </a:r>
            <a:r>
              <a:rPr lang="en-US" sz="1400" dirty="0"/>
              <a:t> While existing solutions often employ complex Deep Learning models (Neural Networks/LSTMs) that act as "Black Boxes", they often lack interpretability for the average teacher.</a:t>
            </a:r>
          </a:p>
          <a:p>
            <a:pPr marL="285750" indent="-285750" algn="just">
              <a:buFont typeface="Arial" panose="020B0604020202020204" pitchFamily="34" charset="0"/>
              <a:buChar char="•"/>
            </a:pPr>
            <a:r>
              <a:rPr lang="en-US" sz="1400" b="1" dirty="0"/>
              <a:t>Our Contribution:</a:t>
            </a:r>
            <a:r>
              <a:rPr lang="en-US" sz="1400" dirty="0"/>
              <a:t> PASS addresses this gap by replacing opaque algorithms with transparent </a:t>
            </a:r>
            <a:r>
              <a:rPr lang="en-US" sz="1400" b="1" dirty="0"/>
              <a:t>Statistical Trend Analysis</a:t>
            </a:r>
            <a:r>
              <a:rPr lang="en-US" sz="1400" dirty="0"/>
              <a:t>. Instead of simply labeling a student as "At-Risk," PASS explains </a:t>
            </a:r>
            <a:r>
              <a:rPr lang="en-US" sz="1400" i="1" dirty="0"/>
              <a:t>why</a:t>
            </a:r>
            <a:r>
              <a:rPr lang="en-US" sz="1400" dirty="0"/>
              <a:t> (e.g., "Submission Latency is increasing"), making the system more actionable for educators.</a:t>
            </a:r>
          </a:p>
        </p:txBody>
      </p:sp>
    </p:spTree>
    <p:extLst>
      <p:ext uri="{BB962C8B-B14F-4D97-AF65-F5344CB8AC3E}">
        <p14:creationId xmlns:p14="http://schemas.microsoft.com/office/powerpoint/2010/main" val="425968262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2209" y="923330"/>
            <a:ext cx="8267076" cy="50783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b="1" dirty="0"/>
              <a:t>Paper 1:</a:t>
            </a:r>
            <a:endParaRPr lang="en-US" dirty="0"/>
          </a:p>
          <a:p>
            <a:r>
              <a:rPr lang="en-US" b="1" dirty="0"/>
              <a:t>Author:</a:t>
            </a:r>
            <a:r>
              <a:rPr lang="en-US" dirty="0"/>
              <a:t> </a:t>
            </a:r>
            <a:r>
              <a:rPr lang="en-IN" dirty="0"/>
              <a:t>Osborne &amp; Lang</a:t>
            </a:r>
            <a:r>
              <a:rPr lang="en-US" dirty="0"/>
              <a:t> </a:t>
            </a:r>
            <a:r>
              <a:rPr lang="en-US" b="1" dirty="0"/>
              <a:t>Year:</a:t>
            </a:r>
            <a:r>
              <a:rPr lang="en-US" dirty="0"/>
              <a:t> 2023</a:t>
            </a:r>
          </a:p>
          <a:p>
            <a:r>
              <a:rPr lang="en-US" b="1" dirty="0"/>
              <a:t>Description:</a:t>
            </a:r>
            <a:r>
              <a:rPr lang="en-US" dirty="0"/>
              <a:t> Uses Learning Management System (LMS) logs to identify at-risk students based on engagement.</a:t>
            </a:r>
          </a:p>
          <a:p>
            <a:r>
              <a:rPr lang="en-US" b="1" dirty="0"/>
              <a:t>Limitation:</a:t>
            </a:r>
            <a:r>
              <a:rPr lang="en-US" dirty="0"/>
              <a:t> Relies heavily on retrospective analysis rather than providing real-time teacher alerts.</a:t>
            </a:r>
          </a:p>
          <a:p>
            <a:r>
              <a:rPr lang="en-US" b="1" dirty="0"/>
              <a:t>Paper 2:</a:t>
            </a:r>
            <a:endParaRPr lang="en-US" dirty="0"/>
          </a:p>
          <a:p>
            <a:r>
              <a:rPr lang="en-US" b="1" dirty="0"/>
              <a:t>Author:</a:t>
            </a:r>
            <a:r>
              <a:rPr lang="en-US" dirty="0"/>
              <a:t> </a:t>
            </a:r>
            <a:r>
              <a:rPr lang="en-IN" dirty="0"/>
              <a:t>Zhao, Chen, et al. </a:t>
            </a:r>
            <a:r>
              <a:rPr lang="en-US" b="1" dirty="0"/>
              <a:t>Year:</a:t>
            </a:r>
            <a:r>
              <a:rPr lang="en-US" dirty="0"/>
              <a:t> 2021</a:t>
            </a:r>
          </a:p>
          <a:p>
            <a:r>
              <a:rPr lang="en-US" b="1" dirty="0"/>
              <a:t>Description: </a:t>
            </a:r>
            <a:r>
              <a:rPr lang="en-US" dirty="0"/>
              <a:t>Analyzes multisource behavioral data to predict academic performance trends over time.</a:t>
            </a:r>
          </a:p>
          <a:p>
            <a:r>
              <a:rPr lang="en-US" b="1" dirty="0"/>
              <a:t>Limitation:</a:t>
            </a:r>
            <a:r>
              <a:rPr lang="en-US" dirty="0"/>
              <a:t> High computational complexity makes it difficult to deploy on lightweight standard servers.</a:t>
            </a:r>
          </a:p>
          <a:p>
            <a:r>
              <a:rPr lang="en-US" b="1" dirty="0"/>
              <a:t>Paper 3:</a:t>
            </a:r>
            <a:endParaRPr lang="en-US" dirty="0"/>
          </a:p>
          <a:p>
            <a:r>
              <a:rPr lang="en-US" b="1" dirty="0"/>
              <a:t>Author:</a:t>
            </a:r>
            <a:r>
              <a:rPr lang="en-US" dirty="0"/>
              <a:t> </a:t>
            </a:r>
            <a:r>
              <a:rPr lang="en-IN" dirty="0"/>
              <a:t>Imran, Latif, et al </a:t>
            </a:r>
            <a:r>
              <a:rPr lang="en-US" b="1" dirty="0"/>
              <a:t>Year:</a:t>
            </a:r>
            <a:r>
              <a:rPr lang="en-US" dirty="0"/>
              <a:t> 2019</a:t>
            </a:r>
          </a:p>
          <a:p>
            <a:r>
              <a:rPr lang="en-US" b="1" dirty="0"/>
              <a:t>Description:</a:t>
            </a:r>
            <a:r>
              <a:rPr lang="en-US" dirty="0"/>
              <a:t> Compares various supervised learning techniques for predicting final student grades. </a:t>
            </a:r>
          </a:p>
          <a:p>
            <a:r>
              <a:rPr lang="en-US" b="1" dirty="0"/>
              <a:t>Limitation:</a:t>
            </a:r>
            <a:r>
              <a:rPr lang="en-US" dirty="0"/>
              <a:t> Functions as a reactive diagnostic tool (predicting failure) rather than a proactive support system.</a:t>
            </a:r>
            <a:r>
              <a:rPr kumimoji="0" lang="en-US" b="0" i="0" u="none" strike="noStrike" cap="none" spc="0" normalizeH="0" baseline="0" dirty="0">
                <a:ln>
                  <a:noFill/>
                </a:ln>
                <a:solidFill>
                  <a:srgbClr val="000000"/>
                </a:solidFill>
                <a:effectLst/>
                <a:uFillTx/>
                <a:latin typeface="+mn-lt"/>
                <a:ea typeface="+mn-ea"/>
                <a:cs typeface="+mn-cs"/>
                <a:sym typeface="Calibri"/>
              </a:rPr>
              <a:t>                           </a:t>
            </a:r>
          </a:p>
        </p:txBody>
      </p:sp>
      <p:sp>
        <p:nvSpPr>
          <p:cNvPr id="3" name="Rectangle 2"/>
          <p:cNvSpPr/>
          <p:nvPr/>
        </p:nvSpPr>
        <p:spPr>
          <a:xfrm>
            <a:off x="415567" y="77343"/>
            <a:ext cx="4190571" cy="769441"/>
          </a:xfrm>
          <a:prstGeom prst="rect">
            <a:avLst/>
          </a:prstGeom>
          <a:noFill/>
        </p:spPr>
        <p:txBody>
          <a:bodyPr wrap="none" lIns="91440" tIns="45720" rIns="91440" bIns="4572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SAMPLE STUDIES</a:t>
            </a:r>
          </a:p>
        </p:txBody>
      </p:sp>
    </p:spTree>
    <p:extLst>
      <p:ext uri="{BB962C8B-B14F-4D97-AF65-F5344CB8AC3E}">
        <p14:creationId xmlns:p14="http://schemas.microsoft.com/office/powerpoint/2010/main" val="429098124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9975" y="0"/>
            <a:ext cx="4716356" cy="769441"/>
          </a:xfrm>
          <a:prstGeom prst="rect">
            <a:avLst/>
          </a:prstGeom>
          <a:noFill/>
        </p:spPr>
        <p:txBody>
          <a:bodyPr wrap="none" lIns="91440" tIns="45720" rIns="91440" bIns="4572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PROJECT TIME LINE</a:t>
            </a:r>
          </a:p>
        </p:txBody>
      </p:sp>
      <p:graphicFrame>
        <p:nvGraphicFramePr>
          <p:cNvPr id="18" name="Table 17"/>
          <p:cNvGraphicFramePr>
            <a:graphicFrameLocks noGrp="1"/>
          </p:cNvGraphicFramePr>
          <p:nvPr>
            <p:extLst>
              <p:ext uri="{D42A27DB-BD31-4B8C-83A1-F6EECF244321}">
                <p14:modId xmlns:p14="http://schemas.microsoft.com/office/powerpoint/2010/main" val="2732296297"/>
              </p:ext>
            </p:extLst>
          </p:nvPr>
        </p:nvGraphicFramePr>
        <p:xfrm>
          <a:off x="577121" y="1006763"/>
          <a:ext cx="7170295" cy="5351580"/>
        </p:xfrm>
        <a:graphic>
          <a:graphicData uri="http://schemas.openxmlformats.org/drawingml/2006/table">
            <a:tbl>
              <a:tblPr firstRow="1" bandRow="1">
                <a:tableStyleId>{5940675A-B579-460E-94D1-54222C63F5DA}</a:tableStyleId>
              </a:tblPr>
              <a:tblGrid>
                <a:gridCol w="1948722">
                  <a:extLst>
                    <a:ext uri="{9D8B030D-6E8A-4147-A177-3AD203B41FA5}">
                      <a16:colId xmlns:a16="http://schemas.microsoft.com/office/drawing/2014/main" val="20000"/>
                    </a:ext>
                  </a:extLst>
                </a:gridCol>
                <a:gridCol w="1214203">
                  <a:extLst>
                    <a:ext uri="{9D8B030D-6E8A-4147-A177-3AD203B41FA5}">
                      <a16:colId xmlns:a16="http://schemas.microsoft.com/office/drawing/2014/main" val="20001"/>
                    </a:ext>
                  </a:extLst>
                </a:gridCol>
                <a:gridCol w="1326629">
                  <a:extLst>
                    <a:ext uri="{9D8B030D-6E8A-4147-A177-3AD203B41FA5}">
                      <a16:colId xmlns:a16="http://schemas.microsoft.com/office/drawing/2014/main" val="20002"/>
                    </a:ext>
                  </a:extLst>
                </a:gridCol>
                <a:gridCol w="1246682">
                  <a:extLst>
                    <a:ext uri="{9D8B030D-6E8A-4147-A177-3AD203B41FA5}">
                      <a16:colId xmlns:a16="http://schemas.microsoft.com/office/drawing/2014/main" val="20003"/>
                    </a:ext>
                  </a:extLst>
                </a:gridCol>
                <a:gridCol w="1434059">
                  <a:extLst>
                    <a:ext uri="{9D8B030D-6E8A-4147-A177-3AD203B41FA5}">
                      <a16:colId xmlns:a16="http://schemas.microsoft.com/office/drawing/2014/main" val="20004"/>
                    </a:ext>
                  </a:extLst>
                </a:gridCol>
              </a:tblGrid>
              <a:tr h="325724">
                <a:tc>
                  <a:txBody>
                    <a:bodyPr/>
                    <a:lstStyle/>
                    <a:p>
                      <a:pPr algn="ctr"/>
                      <a:r>
                        <a:rPr lang="en-US" sz="2000" dirty="0"/>
                        <a:t>TASK</a:t>
                      </a:r>
                    </a:p>
                  </a:txBody>
                  <a:tcPr/>
                </a:tc>
                <a:tc>
                  <a:txBody>
                    <a:bodyPr/>
                    <a:lstStyle/>
                    <a:p>
                      <a:pPr algn="ctr"/>
                      <a:r>
                        <a:rPr lang="en-US" sz="2000" dirty="0"/>
                        <a:t>MONTH 1</a:t>
                      </a:r>
                    </a:p>
                  </a:txBody>
                  <a:tcPr/>
                </a:tc>
                <a:tc>
                  <a:txBody>
                    <a:bodyPr/>
                    <a:lstStyle/>
                    <a:p>
                      <a:pPr algn="ctr"/>
                      <a:r>
                        <a:rPr lang="en-US" sz="2000" dirty="0"/>
                        <a:t>MONTH 2</a:t>
                      </a:r>
                    </a:p>
                  </a:txBody>
                  <a:tcPr/>
                </a:tc>
                <a:tc>
                  <a:txBody>
                    <a:bodyPr/>
                    <a:lstStyle/>
                    <a:p>
                      <a:pPr algn="ctr"/>
                      <a:r>
                        <a:rPr lang="en-US" sz="2000" dirty="0"/>
                        <a:t>MONTH 3</a:t>
                      </a:r>
                    </a:p>
                  </a:txBody>
                  <a:tcPr/>
                </a:tc>
                <a:tc>
                  <a:txBody>
                    <a:bodyPr/>
                    <a:lstStyle/>
                    <a:p>
                      <a:pPr algn="ctr"/>
                      <a:r>
                        <a:rPr lang="en-US" sz="2000" dirty="0"/>
                        <a:t>MONTH 4</a:t>
                      </a:r>
                    </a:p>
                  </a:txBody>
                  <a:tcPr/>
                </a:tc>
                <a:extLst>
                  <a:ext uri="{0D108BD9-81ED-4DB2-BD59-A6C34878D82A}">
                    <a16:rowId xmlns:a16="http://schemas.microsoft.com/office/drawing/2014/main" val="10000"/>
                  </a:ext>
                </a:extLst>
              </a:tr>
              <a:tr h="526170">
                <a:tc>
                  <a:txBody>
                    <a:bodyPr/>
                    <a:lstStyle/>
                    <a:p>
                      <a:r>
                        <a:rPr lang="en-US" sz="1800" b="0" i="0" u="none" strike="noStrike" cap="none" spc="0" baseline="0" dirty="0">
                          <a:solidFill>
                            <a:schemeClr val="tx1"/>
                          </a:solidFill>
                          <a:effectLst/>
                          <a:uFillTx/>
                          <a:latin typeface="+mn-lt"/>
                          <a:ea typeface="+mn-ea"/>
                          <a:cs typeface="+mn-cs"/>
                          <a:sym typeface="Calibri"/>
                        </a:rPr>
                        <a:t>Topic Finalization</a:t>
                      </a:r>
                      <a:endParaRPr lang="en-US" sz="1800" dirty="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tc>
                  <a:txBody>
                    <a:bodyPr/>
                    <a:lstStyle/>
                    <a:p>
                      <a:pPr algn="ctr"/>
                      <a:endParaRPr lang="en-US" sz="2800"/>
                    </a:p>
                  </a:txBody>
                  <a:tcPr/>
                </a:tc>
                <a:tc>
                  <a:txBody>
                    <a:bodyPr/>
                    <a:lstStyle/>
                    <a:p>
                      <a:pPr algn="ctr"/>
                      <a:endParaRPr lang="en-US" sz="2800"/>
                    </a:p>
                  </a:txBody>
                  <a:tcPr/>
                </a:tc>
                <a:tc>
                  <a:txBody>
                    <a:bodyPr/>
                    <a:lstStyle/>
                    <a:p>
                      <a:pPr algn="ctr"/>
                      <a:endParaRPr lang="en-US" sz="2800"/>
                    </a:p>
                  </a:txBody>
                  <a:tcPr/>
                </a:tc>
                <a:extLst>
                  <a:ext uri="{0D108BD9-81ED-4DB2-BD59-A6C34878D82A}">
                    <a16:rowId xmlns:a16="http://schemas.microsoft.com/office/drawing/2014/main" val="10001"/>
                  </a:ext>
                </a:extLst>
              </a:tr>
              <a:tr h="526170">
                <a:tc>
                  <a:txBody>
                    <a:bodyPr/>
                    <a:lstStyle/>
                    <a:p>
                      <a:r>
                        <a:rPr lang="en-US" sz="1800" b="0" i="0" u="none" strike="noStrike" cap="none" spc="0" baseline="0" dirty="0">
                          <a:solidFill>
                            <a:schemeClr val="tx1"/>
                          </a:solidFill>
                          <a:effectLst/>
                          <a:uFillTx/>
                          <a:latin typeface="+mn-lt"/>
                          <a:ea typeface="+mn-ea"/>
                          <a:cs typeface="+mn-cs"/>
                          <a:sym typeface="Calibri"/>
                        </a:rPr>
                        <a:t>Literature Review </a:t>
                      </a:r>
                      <a:endParaRPr lang="en-US" sz="1800" dirty="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tc>
                  <a:txBody>
                    <a:bodyPr/>
                    <a:lstStyle/>
                    <a:p>
                      <a:pPr algn="ctr"/>
                      <a:endParaRPr lang="en-US" sz="2800"/>
                    </a:p>
                  </a:txBody>
                  <a:tcPr/>
                </a:tc>
                <a:tc>
                  <a:txBody>
                    <a:bodyPr/>
                    <a:lstStyle/>
                    <a:p>
                      <a:pPr algn="ctr"/>
                      <a:endParaRPr lang="en-US" sz="2800"/>
                    </a:p>
                  </a:txBody>
                  <a:tcPr/>
                </a:tc>
                <a:extLst>
                  <a:ext uri="{0D108BD9-81ED-4DB2-BD59-A6C34878D82A}">
                    <a16:rowId xmlns:a16="http://schemas.microsoft.com/office/drawing/2014/main" val="10002"/>
                  </a:ext>
                </a:extLst>
              </a:tr>
              <a:tr h="526170">
                <a:tc>
                  <a:txBody>
                    <a:bodyPr/>
                    <a:lstStyle/>
                    <a:p>
                      <a:r>
                        <a:rPr lang="en-US" sz="1800" b="0" i="0" u="none" strike="noStrike" cap="none" spc="0" baseline="0" dirty="0">
                          <a:solidFill>
                            <a:schemeClr val="tx1"/>
                          </a:solidFill>
                          <a:effectLst/>
                          <a:uFillTx/>
                          <a:latin typeface="+mn-lt"/>
                          <a:ea typeface="+mn-ea"/>
                          <a:cs typeface="+mn-cs"/>
                          <a:sym typeface="Calibri"/>
                        </a:rPr>
                        <a:t>Problem Identification </a:t>
                      </a:r>
                      <a:endParaRPr lang="en-US" sz="1800" dirty="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tc>
                  <a:txBody>
                    <a:bodyPr/>
                    <a:lstStyle/>
                    <a:p>
                      <a:pPr algn="ctr"/>
                      <a:endParaRPr lang="en-US" sz="2800" dirty="0"/>
                    </a:p>
                  </a:txBody>
                  <a:tcPr/>
                </a:tc>
                <a:tc>
                  <a:txBody>
                    <a:bodyPr/>
                    <a:lstStyle/>
                    <a:p>
                      <a:pPr algn="ctr"/>
                      <a:endParaRPr lang="en-US" sz="2800"/>
                    </a:p>
                  </a:txBody>
                  <a:tcPr/>
                </a:tc>
                <a:tc>
                  <a:txBody>
                    <a:bodyPr/>
                    <a:lstStyle/>
                    <a:p>
                      <a:pPr algn="ctr"/>
                      <a:endParaRPr lang="en-US" sz="2800"/>
                    </a:p>
                  </a:txBody>
                  <a:tcPr/>
                </a:tc>
                <a:extLst>
                  <a:ext uri="{0D108BD9-81ED-4DB2-BD59-A6C34878D82A}">
                    <a16:rowId xmlns:a16="http://schemas.microsoft.com/office/drawing/2014/main" val="10003"/>
                  </a:ext>
                </a:extLst>
              </a:tr>
              <a:tr h="526170">
                <a:tc>
                  <a:txBody>
                    <a:bodyPr/>
                    <a:lstStyle/>
                    <a:p>
                      <a:r>
                        <a:rPr lang="en-US" sz="1800" b="0" i="0" u="none" strike="noStrike" cap="none" spc="0" baseline="0" dirty="0">
                          <a:solidFill>
                            <a:schemeClr val="tx1"/>
                          </a:solidFill>
                          <a:effectLst/>
                          <a:uFillTx/>
                          <a:latin typeface="+mn-lt"/>
                          <a:ea typeface="+mn-ea"/>
                          <a:cs typeface="+mn-cs"/>
                          <a:sym typeface="Calibri"/>
                        </a:rPr>
                        <a:t>System Design </a:t>
                      </a:r>
                      <a:endParaRPr lang="en-US" sz="1800" dirty="0"/>
                    </a:p>
                  </a:txBody>
                  <a:tcPr/>
                </a:tc>
                <a:tc>
                  <a:txBody>
                    <a:bodyPr/>
                    <a:lstStyle/>
                    <a:p>
                      <a:pPr algn="ctr"/>
                      <a:endParaRPr lang="en-US" sz="280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tc>
                  <a:txBody>
                    <a:bodyPr/>
                    <a:lstStyle/>
                    <a:p>
                      <a:pPr algn="ctr"/>
                      <a:endParaRPr lang="en-US" sz="2800" dirty="0"/>
                    </a:p>
                  </a:txBody>
                  <a:tcPr/>
                </a:tc>
                <a:tc>
                  <a:txBody>
                    <a:bodyPr/>
                    <a:lstStyle/>
                    <a:p>
                      <a:pPr algn="ctr"/>
                      <a:endParaRPr lang="en-US" sz="2800"/>
                    </a:p>
                  </a:txBody>
                  <a:tcPr/>
                </a:tc>
                <a:extLst>
                  <a:ext uri="{0D108BD9-81ED-4DB2-BD59-A6C34878D82A}">
                    <a16:rowId xmlns:a16="http://schemas.microsoft.com/office/drawing/2014/main" val="10004"/>
                  </a:ext>
                </a:extLst>
              </a:tr>
              <a:tr h="526170">
                <a:tc>
                  <a:txBody>
                    <a:bodyPr/>
                    <a:lstStyle/>
                    <a:p>
                      <a:r>
                        <a:rPr lang="en-US" sz="1800" b="0" i="0" u="none" strike="noStrike" cap="none" spc="0" baseline="0" dirty="0">
                          <a:solidFill>
                            <a:schemeClr val="tx1"/>
                          </a:solidFill>
                          <a:effectLst/>
                          <a:uFillTx/>
                          <a:latin typeface="+mn-lt"/>
                          <a:ea typeface="+mn-ea"/>
                          <a:cs typeface="+mn-cs"/>
                          <a:sym typeface="Calibri"/>
                        </a:rPr>
                        <a:t>Methodology Selection</a:t>
                      </a:r>
                      <a:endParaRPr lang="en-US" sz="1800" dirty="0"/>
                    </a:p>
                  </a:txBody>
                  <a:tcPr/>
                </a:tc>
                <a:tc>
                  <a:txBody>
                    <a:bodyPr/>
                    <a:lstStyle/>
                    <a:p>
                      <a:pPr algn="ctr"/>
                      <a:endParaRPr lang="en-US" sz="280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tc>
                  <a:txBody>
                    <a:bodyPr/>
                    <a:lstStyle/>
                    <a:p>
                      <a:pPr algn="ctr"/>
                      <a:endParaRPr lang="en-US" sz="2800" dirty="0"/>
                    </a:p>
                  </a:txBody>
                  <a:tcPr/>
                </a:tc>
                <a:tc>
                  <a:txBody>
                    <a:bodyPr/>
                    <a:lstStyle/>
                    <a:p>
                      <a:pPr algn="ctr"/>
                      <a:endParaRPr lang="en-US" sz="2800"/>
                    </a:p>
                  </a:txBody>
                  <a:tcPr/>
                </a:tc>
                <a:extLst>
                  <a:ext uri="{0D108BD9-81ED-4DB2-BD59-A6C34878D82A}">
                    <a16:rowId xmlns:a16="http://schemas.microsoft.com/office/drawing/2014/main" val="10005"/>
                  </a:ext>
                </a:extLst>
              </a:tr>
              <a:tr h="526170">
                <a:tc>
                  <a:txBody>
                    <a:bodyPr/>
                    <a:lstStyle/>
                    <a:p>
                      <a:r>
                        <a:rPr lang="en-US" sz="1800" b="0" i="0" u="none" strike="noStrike" cap="none" spc="0" baseline="0" dirty="0">
                          <a:solidFill>
                            <a:schemeClr val="tx1"/>
                          </a:solidFill>
                          <a:effectLst/>
                          <a:uFillTx/>
                          <a:latin typeface="+mn-lt"/>
                          <a:ea typeface="+mn-ea"/>
                          <a:cs typeface="+mn-cs"/>
                          <a:sym typeface="Calibri"/>
                        </a:rPr>
                        <a:t>Implementation</a:t>
                      </a:r>
                      <a:endParaRPr lang="en-US" sz="1800" dirty="0"/>
                    </a:p>
                  </a:txBody>
                  <a:tcPr/>
                </a:tc>
                <a:tc>
                  <a:txBody>
                    <a:bodyPr/>
                    <a:lstStyle/>
                    <a:p>
                      <a:pPr algn="ctr"/>
                      <a:endParaRPr lang="en-US" sz="2800"/>
                    </a:p>
                  </a:txBody>
                  <a:tcPr/>
                </a:tc>
                <a:tc>
                  <a:txBody>
                    <a:bodyPr/>
                    <a:lstStyle/>
                    <a:p>
                      <a:pPr algn="ctr"/>
                      <a:endParaRPr lang="en-US" sz="280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tc>
                  <a:txBody>
                    <a:bodyPr/>
                    <a:lstStyle/>
                    <a:p>
                      <a:pPr algn="ctr"/>
                      <a:endParaRPr lang="en-US" sz="2800" dirty="0"/>
                    </a:p>
                  </a:txBody>
                  <a:tcPr/>
                </a:tc>
                <a:extLst>
                  <a:ext uri="{0D108BD9-81ED-4DB2-BD59-A6C34878D82A}">
                    <a16:rowId xmlns:a16="http://schemas.microsoft.com/office/drawing/2014/main" val="10006"/>
                  </a:ext>
                </a:extLst>
              </a:tr>
              <a:tr h="300668">
                <a:tc>
                  <a:txBody>
                    <a:bodyPr/>
                    <a:lstStyle/>
                    <a:p>
                      <a:r>
                        <a:rPr lang="en-US" sz="1800" b="0" i="0" u="none" strike="noStrike" cap="none" spc="0" baseline="0" dirty="0">
                          <a:solidFill>
                            <a:schemeClr val="tx1"/>
                          </a:solidFill>
                          <a:effectLst/>
                          <a:uFillTx/>
                          <a:latin typeface="+mn-lt"/>
                          <a:ea typeface="+mn-ea"/>
                          <a:cs typeface="+mn-cs"/>
                          <a:sym typeface="Calibri"/>
                        </a:rPr>
                        <a:t>Testing </a:t>
                      </a:r>
                      <a:endParaRPr lang="en-US" sz="1800" dirty="0"/>
                    </a:p>
                  </a:txBody>
                  <a:tcPr/>
                </a:tc>
                <a:tc>
                  <a:txBody>
                    <a:bodyPr/>
                    <a:lstStyle/>
                    <a:p>
                      <a:pPr algn="ctr"/>
                      <a:endParaRPr lang="en-US" sz="2800"/>
                    </a:p>
                  </a:txBody>
                  <a:tcPr/>
                </a:tc>
                <a:tc>
                  <a:txBody>
                    <a:bodyPr/>
                    <a:lstStyle/>
                    <a:p>
                      <a:pPr algn="ctr"/>
                      <a:endParaRPr lang="en-US" sz="280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extLst>
                  <a:ext uri="{0D108BD9-81ED-4DB2-BD59-A6C34878D82A}">
                    <a16:rowId xmlns:a16="http://schemas.microsoft.com/office/drawing/2014/main" val="10007"/>
                  </a:ext>
                </a:extLst>
              </a:tr>
              <a:tr h="526170">
                <a:tc>
                  <a:txBody>
                    <a:bodyPr/>
                    <a:lstStyle/>
                    <a:p>
                      <a:r>
                        <a:rPr lang="en-US" sz="1800" b="0" i="0" u="none" strike="noStrike" cap="none" spc="0" baseline="0" dirty="0">
                          <a:solidFill>
                            <a:schemeClr val="tx1"/>
                          </a:solidFill>
                          <a:effectLst/>
                          <a:uFillTx/>
                          <a:latin typeface="+mn-lt"/>
                          <a:ea typeface="+mn-ea"/>
                          <a:cs typeface="+mn-cs"/>
                          <a:sym typeface="Calibri"/>
                        </a:rPr>
                        <a:t>Documentation</a:t>
                      </a:r>
                      <a:endParaRPr lang="en-US" sz="1800" dirty="0"/>
                    </a:p>
                  </a:txBody>
                  <a:tcPr/>
                </a:tc>
                <a:tc>
                  <a:txBody>
                    <a:bodyPr/>
                    <a:lstStyle/>
                    <a:p>
                      <a:pPr algn="ctr"/>
                      <a:endParaRPr lang="en-US" sz="2800"/>
                    </a:p>
                  </a:txBody>
                  <a:tcPr/>
                </a:tc>
                <a:tc>
                  <a:txBody>
                    <a:bodyPr/>
                    <a:lstStyle/>
                    <a:p>
                      <a:pPr algn="ctr"/>
                      <a:endParaRPr lang="en-US" sz="2800"/>
                    </a:p>
                  </a:txBody>
                  <a:tcPr/>
                </a:tc>
                <a:tc>
                  <a:txBody>
                    <a:bodyPr/>
                    <a:lstStyle/>
                    <a:p>
                      <a:pPr algn="ctr"/>
                      <a:endParaRPr lang="en-US" sz="280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extLst>
                  <a:ext uri="{0D108BD9-81ED-4DB2-BD59-A6C34878D82A}">
                    <a16:rowId xmlns:a16="http://schemas.microsoft.com/office/drawing/2014/main" val="10008"/>
                  </a:ext>
                </a:extLst>
              </a:tr>
              <a:tr h="526170">
                <a:tc>
                  <a:txBody>
                    <a:bodyPr/>
                    <a:lstStyle/>
                    <a:p>
                      <a:r>
                        <a:rPr lang="en-US" sz="1800" b="0" i="0" u="none" strike="noStrike" cap="none" spc="0" baseline="0" dirty="0">
                          <a:solidFill>
                            <a:schemeClr val="tx1"/>
                          </a:solidFill>
                          <a:effectLst/>
                          <a:uFillTx/>
                          <a:latin typeface="+mn-lt"/>
                          <a:ea typeface="+mn-ea"/>
                          <a:cs typeface="+mn-cs"/>
                          <a:sym typeface="Calibri"/>
                        </a:rPr>
                        <a:t>Final Submission </a:t>
                      </a:r>
                      <a:endParaRPr lang="en-US" sz="1800" dirty="0"/>
                    </a:p>
                  </a:txBody>
                  <a:tcPr/>
                </a:tc>
                <a:tc>
                  <a:txBody>
                    <a:bodyPr/>
                    <a:lstStyle/>
                    <a:p>
                      <a:pPr algn="ctr"/>
                      <a:endParaRPr lang="en-US" sz="2800"/>
                    </a:p>
                  </a:txBody>
                  <a:tcPr/>
                </a:tc>
                <a:tc>
                  <a:txBody>
                    <a:bodyPr/>
                    <a:lstStyle/>
                    <a:p>
                      <a:pPr algn="ctr"/>
                      <a:endParaRPr lang="en-US" sz="2800"/>
                    </a:p>
                  </a:txBody>
                  <a:tcPr/>
                </a:tc>
                <a:tc>
                  <a:txBody>
                    <a:bodyPr/>
                    <a:lstStyle/>
                    <a:p>
                      <a:pPr algn="ctr"/>
                      <a:endParaRPr lang="en-US" sz="2800"/>
                    </a:p>
                  </a:txBody>
                  <a:tcPr/>
                </a:tc>
                <a:tc>
                  <a:txBody>
                    <a:bodyPr/>
                    <a:lstStyle/>
                    <a:p>
                      <a:pPr algn="ctr"/>
                      <a:r>
                        <a:rPr lang="en-US" sz="2800" b="0" i="0" u="none" strike="noStrike" cap="none" spc="0" baseline="0" dirty="0">
                          <a:solidFill>
                            <a:schemeClr val="tx1"/>
                          </a:solidFill>
                          <a:effectLst/>
                          <a:uFillTx/>
                          <a:latin typeface="+mn-lt"/>
                          <a:ea typeface="+mn-ea"/>
                          <a:cs typeface="+mn-cs"/>
                          <a:sym typeface="Calibri"/>
                        </a:rPr>
                        <a:t>✔</a:t>
                      </a:r>
                      <a:endParaRPr lang="en-US" sz="28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43889068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lide Number"/>
          <p:cNvSpPr txBox="1">
            <a:spLocks noGrp="1"/>
          </p:cNvSpPr>
          <p:nvPr>
            <p:ph type="sldNum" sz="quarter" idx="2"/>
          </p:nvPr>
        </p:nvSpPr>
        <p:spPr>
          <a:xfrm>
            <a:off x="8658344" y="6433712"/>
            <a:ext cx="131354" cy="1270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8</a:t>
            </a:fld>
            <a:endParaRPr/>
          </a:p>
        </p:txBody>
      </p:sp>
      <p:sp>
        <p:nvSpPr>
          <p:cNvPr id="181" name="Thank you"/>
          <p:cNvSpPr txBox="1"/>
          <p:nvPr/>
        </p:nvSpPr>
        <p:spPr>
          <a:xfrm>
            <a:off x="3653744" y="3353196"/>
            <a:ext cx="2136339" cy="5480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1043305">
              <a:defRPr sz="3200" b="1">
                <a:solidFill>
                  <a:srgbClr val="C00000"/>
                </a:solidFill>
                <a:latin typeface="Arial"/>
                <a:ea typeface="Arial"/>
                <a:cs typeface="Arial"/>
                <a:sym typeface="Arial"/>
              </a:defRPr>
            </a:lvl1pPr>
          </a:lstStyle>
          <a:p>
            <a:r>
              <a:t>Thank you</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118</TotalTime>
  <Words>862</Words>
  <Application>Microsoft Office PowerPoint</Application>
  <PresentationFormat>On-screen Show (4:3)</PresentationFormat>
  <Paragraphs>82</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Someonefromearth</dc:creator>
  <cp:lastModifiedBy>MADHAVARAM MIDHUN</cp:lastModifiedBy>
  <cp:revision>16</cp:revision>
  <dcterms:modified xsi:type="dcterms:W3CDTF">2025-12-27T09:15:49Z</dcterms:modified>
</cp:coreProperties>
</file>